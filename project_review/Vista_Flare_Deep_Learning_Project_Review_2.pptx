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80" r:id="rId3"/>
    <p:sldId id="260" r:id="rId4"/>
    <p:sldId id="259" r:id="rId5"/>
    <p:sldId id="262" r:id="rId6"/>
    <p:sldId id="267" r:id="rId7"/>
    <p:sldId id="261" r:id="rId8"/>
    <p:sldId id="269" r:id="rId9"/>
    <p:sldId id="270" r:id="rId10"/>
    <p:sldId id="271" r:id="rId11"/>
    <p:sldId id="281" r:id="rId12"/>
    <p:sldId id="272" r:id="rId13"/>
    <p:sldId id="263" r:id="rId14"/>
    <p:sldId id="264" r:id="rId15"/>
    <p:sldId id="266" r:id="rId16"/>
    <p:sldId id="274" r:id="rId17"/>
    <p:sldId id="277" r:id="rId18"/>
    <p:sldId id="282" r:id="rId19"/>
    <p:sldId id="278" r:id="rId20"/>
    <p:sldId id="279" r:id="rId21"/>
    <p:sldId id="276" r:id="rId22"/>
    <p:sldId id="283" r:id="rId23"/>
  </p:sldIdLst>
  <p:sldSz cx="12192000" cy="68580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D6C10-7ED4-4424-AA88-8D4876C96B88}" v="2" dt="2026-10-29T19:27:38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y Johanan Meka" userId="86d1ef71c1d065d9" providerId="LiveId" clId="{1E0B7D4A-08D9-49BE-A8AD-AA92E7236A6D}"/>
    <pc:docChg chg="undo redo custSel modSld">
      <pc:chgData name="Jeffy Johanan Meka" userId="86d1ef71c1d065d9" providerId="LiveId" clId="{1E0B7D4A-08D9-49BE-A8AD-AA92E7236A6D}" dt="2026-10-29T19:29:40.167" v="654" actId="403"/>
      <pc:docMkLst>
        <pc:docMk/>
      </pc:docMkLst>
      <pc:sldChg chg="addSp modSp mod">
        <pc:chgData name="Jeffy Johanan Meka" userId="86d1ef71c1d065d9" providerId="LiveId" clId="{1E0B7D4A-08D9-49BE-A8AD-AA92E7236A6D}" dt="2026-10-29T19:27:59.852" v="595" actId="22"/>
        <pc:sldMkLst>
          <pc:docMk/>
          <pc:sldMk cId="0" sldId="259"/>
        </pc:sldMkLst>
        <pc:spChg chg="mod">
          <ac:chgData name="Jeffy Johanan Meka" userId="86d1ef71c1d065d9" providerId="LiveId" clId="{1E0B7D4A-08D9-49BE-A8AD-AA92E7236A6D}" dt="2026-10-29T19:16:20.973" v="398" actId="113"/>
          <ac:spMkLst>
            <pc:docMk/>
            <pc:sldMk cId="0" sldId="259"/>
            <ac:spMk id="5122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16:05.957" v="396" actId="403"/>
          <ac:spMkLst>
            <pc:docMk/>
            <pc:sldMk cId="0" sldId="259"/>
            <ac:spMk id="5123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7:59.852" v="595" actId="22"/>
          <ac:picMkLst>
            <pc:docMk/>
            <pc:sldMk cId="0" sldId="259"/>
            <ac:picMk id="3" creationId="{DC89639C-2CA0-44EB-CAB5-D87A58D468FD}"/>
          </ac:picMkLst>
        </pc:picChg>
      </pc:sldChg>
      <pc:sldChg chg="addSp modSp mod">
        <pc:chgData name="Jeffy Johanan Meka" userId="86d1ef71c1d065d9" providerId="LiveId" clId="{1E0B7D4A-08D9-49BE-A8AD-AA92E7236A6D}" dt="2026-10-29T19:27:57.471" v="594" actId="22"/>
        <pc:sldMkLst>
          <pc:docMk/>
          <pc:sldMk cId="0" sldId="260"/>
        </pc:sldMkLst>
        <pc:spChg chg="mod">
          <ac:chgData name="Jeffy Johanan Meka" userId="86d1ef71c1d065d9" providerId="LiveId" clId="{1E0B7D4A-08D9-49BE-A8AD-AA92E7236A6D}" dt="2026-10-29T19:15:05.895" v="384" actId="113"/>
          <ac:spMkLst>
            <pc:docMk/>
            <pc:sldMk cId="0" sldId="260"/>
            <ac:spMk id="4098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15:40.777" v="392" actId="14100"/>
          <ac:spMkLst>
            <pc:docMk/>
            <pc:sldMk cId="0" sldId="260"/>
            <ac:spMk id="4099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7:57.471" v="594" actId="22"/>
          <ac:picMkLst>
            <pc:docMk/>
            <pc:sldMk cId="0" sldId="260"/>
            <ac:picMk id="3" creationId="{A56E0A61-B862-46A9-1E5D-6AF26059BA01}"/>
          </ac:picMkLst>
        </pc:picChg>
      </pc:sldChg>
      <pc:sldChg chg="addSp modSp mod">
        <pc:chgData name="Jeffy Johanan Meka" userId="86d1ef71c1d065d9" providerId="LiveId" clId="{1E0B7D4A-08D9-49BE-A8AD-AA92E7236A6D}" dt="2026-10-29T19:28:06.141" v="600" actId="22"/>
        <pc:sldMkLst>
          <pc:docMk/>
          <pc:sldMk cId="0" sldId="261"/>
        </pc:sldMkLst>
        <pc:spChg chg="mod">
          <ac:chgData name="Jeffy Johanan Meka" userId="86d1ef71c1d065d9" providerId="LiveId" clId="{1E0B7D4A-08D9-49BE-A8AD-AA92E7236A6D}" dt="2026-10-29T19:17:38.297" v="415" actId="113"/>
          <ac:spMkLst>
            <pc:docMk/>
            <pc:sldMk cId="0" sldId="261"/>
            <ac:spMk id="8194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17:30.285" v="413" actId="403"/>
          <ac:spMkLst>
            <pc:docMk/>
            <pc:sldMk cId="0" sldId="261"/>
            <ac:spMk id="8195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8:06.141" v="600" actId="22"/>
          <ac:picMkLst>
            <pc:docMk/>
            <pc:sldMk cId="0" sldId="261"/>
            <ac:picMk id="3" creationId="{ABBFC86D-37E4-EE2C-3436-FB86617227F7}"/>
          </ac:picMkLst>
        </pc:picChg>
      </pc:sldChg>
      <pc:sldChg chg="addSp modSp mod">
        <pc:chgData name="Jeffy Johanan Meka" userId="86d1ef71c1d065d9" providerId="LiveId" clId="{1E0B7D4A-08D9-49BE-A8AD-AA92E7236A6D}" dt="2026-10-29T19:28:02.759" v="598" actId="1037"/>
        <pc:sldMkLst>
          <pc:docMk/>
          <pc:sldMk cId="0" sldId="262"/>
        </pc:sldMkLst>
        <pc:spChg chg="mod">
          <ac:chgData name="Jeffy Johanan Meka" userId="86d1ef71c1d065d9" providerId="LiveId" clId="{1E0B7D4A-08D9-49BE-A8AD-AA92E7236A6D}" dt="2026-10-29T19:16:34.149" v="404" actId="403"/>
          <ac:spMkLst>
            <pc:docMk/>
            <pc:sldMk cId="0" sldId="262"/>
            <ac:spMk id="3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16:28.611" v="400" actId="122"/>
          <ac:spMkLst>
            <pc:docMk/>
            <pc:sldMk cId="0" sldId="262"/>
            <ac:spMk id="6146" creationId="{00000000-0000-0000-0000-000000000000}"/>
          </ac:spMkLst>
        </pc:spChg>
        <pc:picChg chg="add mod">
          <ac:chgData name="Jeffy Johanan Meka" userId="86d1ef71c1d065d9" providerId="LiveId" clId="{1E0B7D4A-08D9-49BE-A8AD-AA92E7236A6D}" dt="2026-10-29T19:28:02.759" v="598" actId="1037"/>
          <ac:picMkLst>
            <pc:docMk/>
            <pc:sldMk cId="0" sldId="262"/>
            <ac:picMk id="4" creationId="{06942193-453A-235A-82FA-63E7DDFE7AC6}"/>
          </ac:picMkLst>
        </pc:picChg>
      </pc:sldChg>
      <pc:sldChg chg="addSp modSp mod">
        <pc:chgData name="Jeffy Johanan Meka" userId="86d1ef71c1d065d9" providerId="LiveId" clId="{1E0B7D4A-08D9-49BE-A8AD-AA92E7236A6D}" dt="2026-10-29T19:28:23.424" v="604" actId="22"/>
        <pc:sldMkLst>
          <pc:docMk/>
          <pc:sldMk cId="0" sldId="263"/>
        </pc:sldMkLst>
        <pc:spChg chg="mod">
          <ac:chgData name="Jeffy Johanan Meka" userId="86d1ef71c1d065d9" providerId="LiveId" clId="{1E0B7D4A-08D9-49BE-A8AD-AA92E7236A6D}" dt="2026-10-29T19:19:58.464" v="451" actId="122"/>
          <ac:spMkLst>
            <pc:docMk/>
            <pc:sldMk cId="0" sldId="263"/>
            <ac:spMk id="13314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1:42.771" v="473" actId="948"/>
          <ac:spMkLst>
            <pc:docMk/>
            <pc:sldMk cId="0" sldId="263"/>
            <ac:spMk id="13315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8:23.424" v="604" actId="22"/>
          <ac:picMkLst>
            <pc:docMk/>
            <pc:sldMk cId="0" sldId="263"/>
            <ac:picMk id="3" creationId="{E98AE33F-D9DE-F82E-6666-6E1E5167597C}"/>
          </ac:picMkLst>
        </pc:picChg>
      </pc:sldChg>
      <pc:sldChg chg="addSp modSp mod">
        <pc:chgData name="Jeffy Johanan Meka" userId="86d1ef71c1d065d9" providerId="LiveId" clId="{1E0B7D4A-08D9-49BE-A8AD-AA92E7236A6D}" dt="2026-10-29T19:28:26.038" v="606" actId="1038"/>
        <pc:sldMkLst>
          <pc:docMk/>
          <pc:sldMk cId="0" sldId="264"/>
        </pc:sldMkLst>
        <pc:spChg chg="mod">
          <ac:chgData name="Jeffy Johanan Meka" userId="86d1ef71c1d065d9" providerId="LiveId" clId="{1E0B7D4A-08D9-49BE-A8AD-AA92E7236A6D}" dt="2026-10-29T19:21:59.662" v="477" actId="113"/>
          <ac:spMkLst>
            <pc:docMk/>
            <pc:sldMk cId="0" sldId="264"/>
            <ac:spMk id="14338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1:52.313" v="475" actId="403"/>
          <ac:spMkLst>
            <pc:docMk/>
            <pc:sldMk cId="0" sldId="264"/>
            <ac:spMk id="14339" creationId="{00000000-0000-0000-0000-000000000000}"/>
          </ac:spMkLst>
        </pc:spChg>
        <pc:picChg chg="add mod">
          <ac:chgData name="Jeffy Johanan Meka" userId="86d1ef71c1d065d9" providerId="LiveId" clId="{1E0B7D4A-08D9-49BE-A8AD-AA92E7236A6D}" dt="2026-10-29T19:28:26.038" v="606" actId="1038"/>
          <ac:picMkLst>
            <pc:docMk/>
            <pc:sldMk cId="0" sldId="264"/>
            <ac:picMk id="3" creationId="{C6B2B578-895E-1BAA-4EF0-FA755A7B632B}"/>
          </ac:picMkLst>
        </pc:picChg>
      </pc:sldChg>
      <pc:sldChg chg="addSp modSp mod">
        <pc:chgData name="Jeffy Johanan Meka" userId="86d1ef71c1d065d9" providerId="LiveId" clId="{1E0B7D4A-08D9-49BE-A8AD-AA92E7236A6D}" dt="2026-10-29T19:28:29.644" v="608" actId="1037"/>
        <pc:sldMkLst>
          <pc:docMk/>
          <pc:sldMk cId="0" sldId="266"/>
        </pc:sldMkLst>
        <pc:spChg chg="mod">
          <ac:chgData name="Jeffy Johanan Meka" userId="86d1ef71c1d065d9" providerId="LiveId" clId="{1E0B7D4A-08D9-49BE-A8AD-AA92E7236A6D}" dt="2026-10-29T19:22:19.749" v="481" actId="122"/>
          <ac:spMkLst>
            <pc:docMk/>
            <pc:sldMk cId="0" sldId="266"/>
            <ac:spMk id="15362" creationId="{00000000-0000-0000-0000-000000000000}"/>
          </ac:spMkLst>
        </pc:spChg>
        <pc:picChg chg="add mod">
          <ac:chgData name="Jeffy Johanan Meka" userId="86d1ef71c1d065d9" providerId="LiveId" clId="{1E0B7D4A-08D9-49BE-A8AD-AA92E7236A6D}" dt="2026-10-29T19:28:29.644" v="608" actId="1037"/>
          <ac:picMkLst>
            <pc:docMk/>
            <pc:sldMk cId="0" sldId="266"/>
            <ac:picMk id="3" creationId="{1EB7D47F-71F1-E248-2447-94DC624CBCBA}"/>
          </ac:picMkLst>
        </pc:picChg>
        <pc:picChg chg="mod">
          <ac:chgData name="Jeffy Johanan Meka" userId="86d1ef71c1d065d9" providerId="LiveId" clId="{1E0B7D4A-08D9-49BE-A8AD-AA92E7236A6D}" dt="2026-10-29T19:22:10.919" v="479" actId="1076"/>
          <ac:picMkLst>
            <pc:docMk/>
            <pc:sldMk cId="0" sldId="266"/>
            <ac:picMk id="15363" creationId="{00000000-0000-0000-0000-000000000000}"/>
          </ac:picMkLst>
        </pc:picChg>
      </pc:sldChg>
      <pc:sldChg chg="addSp modSp mod">
        <pc:chgData name="Jeffy Johanan Meka" userId="86d1ef71c1d065d9" providerId="LiveId" clId="{1E0B7D4A-08D9-49BE-A8AD-AA92E7236A6D}" dt="2026-10-29T19:28:04.589" v="599" actId="22"/>
        <pc:sldMkLst>
          <pc:docMk/>
          <pc:sldMk cId="0" sldId="267"/>
        </pc:sldMkLst>
        <pc:spChg chg="mod">
          <ac:chgData name="Jeffy Johanan Meka" userId="86d1ef71c1d065d9" providerId="LiveId" clId="{1E0B7D4A-08D9-49BE-A8AD-AA92E7236A6D}" dt="2026-10-29T19:16:46.965" v="406" actId="122"/>
          <ac:spMkLst>
            <pc:docMk/>
            <pc:sldMk cId="0" sldId="267"/>
            <ac:spMk id="7170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16:51.804" v="410" actId="403"/>
          <ac:spMkLst>
            <pc:docMk/>
            <pc:sldMk cId="0" sldId="267"/>
            <ac:spMk id="7171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8:04.589" v="599" actId="22"/>
          <ac:picMkLst>
            <pc:docMk/>
            <pc:sldMk cId="0" sldId="267"/>
            <ac:picMk id="3" creationId="{B4826AC0-50E1-6238-917D-522A66342013}"/>
          </ac:picMkLst>
        </pc:picChg>
      </pc:sldChg>
      <pc:sldChg chg="addSp modSp mod">
        <pc:chgData name="Jeffy Johanan Meka" userId="86d1ef71c1d065d9" providerId="LiveId" clId="{1E0B7D4A-08D9-49BE-A8AD-AA92E7236A6D}" dt="2026-10-29T19:29:40.167" v="654" actId="403"/>
        <pc:sldMkLst>
          <pc:docMk/>
          <pc:sldMk cId="0" sldId="268"/>
        </pc:sldMkLst>
        <pc:spChg chg="mod">
          <ac:chgData name="Jeffy Johanan Meka" userId="86d1ef71c1d065d9" providerId="LiveId" clId="{1E0B7D4A-08D9-49BE-A8AD-AA92E7236A6D}" dt="2026-10-29T19:08:22.793" v="19" actId="1076"/>
          <ac:spMkLst>
            <pc:docMk/>
            <pc:sldMk cId="0" sldId="268"/>
            <ac:spMk id="2052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08:45.741" v="22" actId="403"/>
          <ac:spMkLst>
            <pc:docMk/>
            <pc:sldMk cId="0" sldId="268"/>
            <ac:spMk id="2053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9:33.667" v="653" actId="404"/>
          <ac:spMkLst>
            <pc:docMk/>
            <pc:sldMk cId="0" sldId="268"/>
            <ac:spMk id="2054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9:40.167" v="654" actId="403"/>
          <ac:spMkLst>
            <pc:docMk/>
            <pc:sldMk cId="0" sldId="268"/>
            <ac:spMk id="2055" creationId="{00000000-0000-0000-0000-000000000000}"/>
          </ac:spMkLst>
        </pc:spChg>
        <pc:picChg chg="add mod">
          <ac:chgData name="Jeffy Johanan Meka" userId="86d1ef71c1d065d9" providerId="LiveId" clId="{1E0B7D4A-08D9-49BE-A8AD-AA92E7236A6D}" dt="2026-10-29T19:27:47.998" v="592" actId="14100"/>
          <ac:picMkLst>
            <pc:docMk/>
            <pc:sldMk cId="0" sldId="268"/>
            <ac:picMk id="3" creationId="{62E97E46-8B49-0E4B-E3C2-1135C20EC325}"/>
          </ac:picMkLst>
        </pc:picChg>
      </pc:sldChg>
      <pc:sldChg chg="addSp delSp modSp mod">
        <pc:chgData name="Jeffy Johanan Meka" userId="86d1ef71c1d065d9" providerId="LiveId" clId="{1E0B7D4A-08D9-49BE-A8AD-AA92E7236A6D}" dt="2026-10-29T19:28:13.209" v="602" actId="22"/>
        <pc:sldMkLst>
          <pc:docMk/>
          <pc:sldMk cId="0" sldId="269"/>
        </pc:sldMkLst>
        <pc:graphicFrameChg chg="modGraphic">
          <ac:chgData name="Jeffy Johanan Meka" userId="86d1ef71c1d065d9" providerId="LiveId" clId="{1E0B7D4A-08D9-49BE-A8AD-AA92E7236A6D}" dt="2026-10-29T19:17:55.320" v="420" actId="403"/>
          <ac:graphicFrameMkLst>
            <pc:docMk/>
            <pc:sldMk cId="0" sldId="269"/>
            <ac:graphicFrameMk id="4" creationId="{00000000-0000-0000-0000-000000000000}"/>
          </ac:graphicFrameMkLst>
        </pc:graphicFrameChg>
        <pc:picChg chg="add del">
          <ac:chgData name="Jeffy Johanan Meka" userId="86d1ef71c1d065d9" providerId="LiveId" clId="{1E0B7D4A-08D9-49BE-A8AD-AA92E7236A6D}" dt="2026-10-29T19:28:13.209" v="602" actId="22"/>
          <ac:picMkLst>
            <pc:docMk/>
            <pc:sldMk cId="0" sldId="269"/>
            <ac:picMk id="3" creationId="{6F4583FF-A2DA-5584-CAA5-6BB7B0F0722E}"/>
          </ac:picMkLst>
        </pc:picChg>
      </pc:sldChg>
      <pc:sldChg chg="modSp mod">
        <pc:chgData name="Jeffy Johanan Meka" userId="86d1ef71c1d065d9" providerId="LiveId" clId="{1E0B7D4A-08D9-49BE-A8AD-AA92E7236A6D}" dt="2026-10-29T19:18:06.205" v="425" actId="403"/>
        <pc:sldMkLst>
          <pc:docMk/>
          <pc:sldMk cId="0" sldId="270"/>
        </pc:sldMkLst>
        <pc:graphicFrameChg chg="modGraphic">
          <ac:chgData name="Jeffy Johanan Meka" userId="86d1ef71c1d065d9" providerId="LiveId" clId="{1E0B7D4A-08D9-49BE-A8AD-AA92E7236A6D}" dt="2026-10-29T19:18:06.205" v="425" actId="403"/>
          <ac:graphicFrameMkLst>
            <pc:docMk/>
            <pc:sldMk cId="0" sldId="270"/>
            <ac:graphicFrameMk id="4" creationId="{00000000-0000-0000-0000-000000000000}"/>
          </ac:graphicFrameMkLst>
        </pc:graphicFrameChg>
      </pc:sldChg>
      <pc:sldChg chg="modSp mod">
        <pc:chgData name="Jeffy Johanan Meka" userId="86d1ef71c1d065d9" providerId="LiveId" clId="{1E0B7D4A-08D9-49BE-A8AD-AA92E7236A6D}" dt="2026-10-29T19:19:07.281" v="440" actId="403"/>
        <pc:sldMkLst>
          <pc:docMk/>
          <pc:sldMk cId="0" sldId="271"/>
        </pc:sldMkLst>
        <pc:graphicFrameChg chg="modGraphic">
          <ac:chgData name="Jeffy Johanan Meka" userId="86d1ef71c1d065d9" providerId="LiveId" clId="{1E0B7D4A-08D9-49BE-A8AD-AA92E7236A6D}" dt="2026-10-29T19:19:07.281" v="440" actId="403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addSp modSp mod">
        <pc:chgData name="Jeffy Johanan Meka" userId="86d1ef71c1d065d9" providerId="LiveId" clId="{1E0B7D4A-08D9-49BE-A8AD-AA92E7236A6D}" dt="2026-10-29T19:28:17.974" v="603" actId="22"/>
        <pc:sldMkLst>
          <pc:docMk/>
          <pc:sldMk cId="0" sldId="272"/>
        </pc:sldMkLst>
        <pc:spChg chg="mod">
          <ac:chgData name="Jeffy Johanan Meka" userId="86d1ef71c1d065d9" providerId="LiveId" clId="{1E0B7D4A-08D9-49BE-A8AD-AA92E7236A6D}" dt="2026-10-29T19:19:49.740" v="449" actId="1076"/>
          <ac:spMkLst>
            <pc:docMk/>
            <pc:sldMk cId="0" sldId="272"/>
            <ac:spMk id="12290" creationId="{00000000-0000-0000-0000-000000000000}"/>
          </ac:spMkLst>
        </pc:spChg>
        <pc:graphicFrameChg chg="mod modGraphic">
          <ac:chgData name="Jeffy Johanan Meka" userId="86d1ef71c1d065d9" providerId="LiveId" clId="{1E0B7D4A-08D9-49BE-A8AD-AA92E7236A6D}" dt="2026-10-29T19:19:35.709" v="446" actId="1076"/>
          <ac:graphicFrameMkLst>
            <pc:docMk/>
            <pc:sldMk cId="0" sldId="272"/>
            <ac:graphicFrameMk id="6" creationId="{00000000-0000-0000-0000-000000000000}"/>
          </ac:graphicFrameMkLst>
        </pc:graphicFrameChg>
        <pc:picChg chg="add">
          <ac:chgData name="Jeffy Johanan Meka" userId="86d1ef71c1d065d9" providerId="LiveId" clId="{1E0B7D4A-08D9-49BE-A8AD-AA92E7236A6D}" dt="2026-10-29T19:28:17.974" v="603" actId="22"/>
          <ac:picMkLst>
            <pc:docMk/>
            <pc:sldMk cId="0" sldId="272"/>
            <ac:picMk id="3" creationId="{7FD1C708-59B9-D3E3-6D71-8AA59696199D}"/>
          </ac:picMkLst>
        </pc:picChg>
      </pc:sldChg>
      <pc:sldChg chg="addSp modSp mod">
        <pc:chgData name="Jeffy Johanan Meka" userId="86d1ef71c1d065d9" providerId="LiveId" clId="{1E0B7D4A-08D9-49BE-A8AD-AA92E7236A6D}" dt="2026-10-29T19:28:31.712" v="609" actId="22"/>
        <pc:sldMkLst>
          <pc:docMk/>
          <pc:sldMk cId="0" sldId="274"/>
        </pc:sldMkLst>
        <pc:spChg chg="mod">
          <ac:chgData name="Jeffy Johanan Meka" userId="86d1ef71c1d065d9" providerId="LiveId" clId="{1E0B7D4A-08D9-49BE-A8AD-AA92E7236A6D}" dt="2026-10-29T19:24:16.159" v="522" actId="122"/>
          <ac:spMkLst>
            <pc:docMk/>
            <pc:sldMk cId="0" sldId="274"/>
            <ac:spMk id="16386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3:27.056" v="501" actId="5793"/>
          <ac:spMkLst>
            <pc:docMk/>
            <pc:sldMk cId="0" sldId="274"/>
            <ac:spMk id="16387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8:31.712" v="609" actId="22"/>
          <ac:picMkLst>
            <pc:docMk/>
            <pc:sldMk cId="0" sldId="274"/>
            <ac:picMk id="3" creationId="{18420C56-2C2C-16BF-164C-9D9A1ED54C93}"/>
          </ac:picMkLst>
        </pc:picChg>
      </pc:sldChg>
      <pc:sldChg chg="addSp modSp mod">
        <pc:chgData name="Jeffy Johanan Meka" userId="86d1ef71c1d065d9" providerId="LiveId" clId="{1E0B7D4A-08D9-49BE-A8AD-AA92E7236A6D}" dt="2026-10-29T19:28:59.235" v="645" actId="1037"/>
        <pc:sldMkLst>
          <pc:docMk/>
          <pc:sldMk cId="0" sldId="276"/>
        </pc:sldMkLst>
        <pc:spChg chg="mod">
          <ac:chgData name="Jeffy Johanan Meka" userId="86d1ef71c1d065d9" providerId="LiveId" clId="{1E0B7D4A-08D9-49BE-A8AD-AA92E7236A6D}" dt="2026-10-29T19:26:07.975" v="575" actId="403"/>
          <ac:spMkLst>
            <pc:docMk/>
            <pc:sldMk cId="0" sldId="276"/>
            <ac:spMk id="20482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6:00.376" v="572" actId="403"/>
          <ac:spMkLst>
            <pc:docMk/>
            <pc:sldMk cId="0" sldId="276"/>
            <ac:spMk id="20483" creationId="{00000000-0000-0000-0000-000000000000}"/>
          </ac:spMkLst>
        </pc:spChg>
        <pc:picChg chg="add mod">
          <ac:chgData name="Jeffy Johanan Meka" userId="86d1ef71c1d065d9" providerId="LiveId" clId="{1E0B7D4A-08D9-49BE-A8AD-AA92E7236A6D}" dt="2026-10-29T19:28:59.235" v="645" actId="1037"/>
          <ac:picMkLst>
            <pc:docMk/>
            <pc:sldMk cId="0" sldId="276"/>
            <ac:picMk id="3" creationId="{ED380039-8603-D704-886E-C22F7C7FCBE9}"/>
          </ac:picMkLst>
        </pc:picChg>
      </pc:sldChg>
      <pc:sldChg chg="addSp modSp mod">
        <pc:chgData name="Jeffy Johanan Meka" userId="86d1ef71c1d065d9" providerId="LiveId" clId="{1E0B7D4A-08D9-49BE-A8AD-AA92E7236A6D}" dt="2026-10-29T19:28:33.413" v="610" actId="22"/>
        <pc:sldMkLst>
          <pc:docMk/>
          <pc:sldMk cId="0" sldId="277"/>
        </pc:sldMkLst>
        <pc:spChg chg="mod">
          <ac:chgData name="Jeffy Johanan Meka" userId="86d1ef71c1d065d9" providerId="LiveId" clId="{1E0B7D4A-08D9-49BE-A8AD-AA92E7236A6D}" dt="2026-10-29T19:23:56.323" v="515" actId="255"/>
          <ac:spMkLst>
            <pc:docMk/>
            <pc:sldMk cId="0" sldId="277"/>
            <ac:spMk id="17410" creationId="{00000000-0000-0000-0000-000000000000}"/>
          </ac:spMkLst>
        </pc:spChg>
        <pc:graphicFrameChg chg="modGraphic">
          <ac:chgData name="Jeffy Johanan Meka" userId="86d1ef71c1d065d9" providerId="LiveId" clId="{1E0B7D4A-08D9-49BE-A8AD-AA92E7236A6D}" dt="2026-10-29T19:24:03.786" v="520" actId="403"/>
          <ac:graphicFrameMkLst>
            <pc:docMk/>
            <pc:sldMk cId="0" sldId="277"/>
            <ac:graphicFrameMk id="17412" creationId="{00000000-0000-0000-0000-000000000000}"/>
          </ac:graphicFrameMkLst>
        </pc:graphicFrameChg>
        <pc:picChg chg="add">
          <ac:chgData name="Jeffy Johanan Meka" userId="86d1ef71c1d065d9" providerId="LiveId" clId="{1E0B7D4A-08D9-49BE-A8AD-AA92E7236A6D}" dt="2026-10-29T19:28:33.413" v="610" actId="22"/>
          <ac:picMkLst>
            <pc:docMk/>
            <pc:sldMk cId="0" sldId="277"/>
            <ac:picMk id="3" creationId="{80DBB9DB-8F26-3EE0-12D9-9A25FFC3F1C4}"/>
          </ac:picMkLst>
        </pc:picChg>
      </pc:sldChg>
      <pc:sldChg chg="addSp modSp mod">
        <pc:chgData name="Jeffy Johanan Meka" userId="86d1ef71c1d065d9" providerId="LiveId" clId="{1E0B7D4A-08D9-49BE-A8AD-AA92E7236A6D}" dt="2026-10-29T19:28:51.298" v="633" actId="1036"/>
        <pc:sldMkLst>
          <pc:docMk/>
          <pc:sldMk cId="0" sldId="278"/>
        </pc:sldMkLst>
        <pc:spChg chg="mod">
          <ac:chgData name="Jeffy Johanan Meka" userId="86d1ef71c1d065d9" providerId="LiveId" clId="{1E0B7D4A-08D9-49BE-A8AD-AA92E7236A6D}" dt="2026-10-29T19:24:51.436" v="539" actId="113"/>
          <ac:spMkLst>
            <pc:docMk/>
            <pc:sldMk cId="0" sldId="278"/>
            <ac:spMk id="18434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4:45.682" v="537" actId="403"/>
          <ac:spMkLst>
            <pc:docMk/>
            <pc:sldMk cId="0" sldId="278"/>
            <ac:spMk id="18435" creationId="{00000000-0000-0000-0000-000000000000}"/>
          </ac:spMkLst>
        </pc:spChg>
        <pc:picChg chg="add mod">
          <ac:chgData name="Jeffy Johanan Meka" userId="86d1ef71c1d065d9" providerId="LiveId" clId="{1E0B7D4A-08D9-49BE-A8AD-AA92E7236A6D}" dt="2026-10-29T19:28:51.298" v="633" actId="1036"/>
          <ac:picMkLst>
            <pc:docMk/>
            <pc:sldMk cId="0" sldId="278"/>
            <ac:picMk id="3" creationId="{70A94F43-050A-2BB4-41C3-B49C44E0D8E9}"/>
          </ac:picMkLst>
        </pc:picChg>
      </pc:sldChg>
      <pc:sldChg chg="addSp modSp mod">
        <pc:chgData name="Jeffy Johanan Meka" userId="86d1ef71c1d065d9" providerId="LiveId" clId="{1E0B7D4A-08D9-49BE-A8AD-AA92E7236A6D}" dt="2026-10-29T19:28:54.076" v="634" actId="22"/>
        <pc:sldMkLst>
          <pc:docMk/>
          <pc:sldMk cId="0" sldId="279"/>
        </pc:sldMkLst>
        <pc:spChg chg="mod">
          <ac:chgData name="Jeffy Johanan Meka" userId="86d1ef71c1d065d9" providerId="LiveId" clId="{1E0B7D4A-08D9-49BE-A8AD-AA92E7236A6D}" dt="2026-10-29T19:25:01.133" v="541" actId="122"/>
          <ac:spMkLst>
            <pc:docMk/>
            <pc:sldMk cId="0" sldId="279"/>
            <ac:spMk id="19458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5:36.292" v="568" actId="5793"/>
          <ac:spMkLst>
            <pc:docMk/>
            <pc:sldMk cId="0" sldId="279"/>
            <ac:spMk id="19459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8:54.076" v="634" actId="22"/>
          <ac:picMkLst>
            <pc:docMk/>
            <pc:sldMk cId="0" sldId="279"/>
            <ac:picMk id="3" creationId="{1A3322AA-9B36-028C-0B95-9FB028F16A91}"/>
          </ac:picMkLst>
        </pc:picChg>
      </pc:sldChg>
      <pc:sldChg chg="addSp modSp mod">
        <pc:chgData name="Jeffy Johanan Meka" userId="86d1ef71c1d065d9" providerId="LiveId" clId="{1E0B7D4A-08D9-49BE-A8AD-AA92E7236A6D}" dt="2026-10-29T19:27:54.549" v="593" actId="22"/>
        <pc:sldMkLst>
          <pc:docMk/>
          <pc:sldMk cId="0" sldId="280"/>
        </pc:sldMkLst>
        <pc:spChg chg="mod">
          <ac:chgData name="Jeffy Johanan Meka" userId="86d1ef71c1d065d9" providerId="LiveId" clId="{1E0B7D4A-08D9-49BE-A8AD-AA92E7236A6D}" dt="2026-10-29T19:14:57.879" v="382" actId="122"/>
          <ac:spMkLst>
            <pc:docMk/>
            <pc:sldMk cId="0" sldId="280"/>
            <ac:spMk id="3074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14:29.218" v="378" actId="403"/>
          <ac:spMkLst>
            <pc:docMk/>
            <pc:sldMk cId="0" sldId="280"/>
            <ac:spMk id="3075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7:54.549" v="593" actId="22"/>
          <ac:picMkLst>
            <pc:docMk/>
            <pc:sldMk cId="0" sldId="280"/>
            <ac:picMk id="3" creationId="{F681FFCB-7571-CBEF-0F23-82F3E9F73D68}"/>
          </ac:picMkLst>
        </pc:picChg>
      </pc:sldChg>
      <pc:sldChg chg="addSp delSp modSp mod">
        <pc:chgData name="Jeffy Johanan Meka" userId="86d1ef71c1d065d9" providerId="LiveId" clId="{1E0B7D4A-08D9-49BE-A8AD-AA92E7236A6D}" dt="2026-10-29T19:18:55.424" v="435" actId="1076"/>
        <pc:sldMkLst>
          <pc:docMk/>
          <pc:sldMk cId="0" sldId="281"/>
        </pc:sldMkLst>
        <pc:spChg chg="add del mod">
          <ac:chgData name="Jeffy Johanan Meka" userId="86d1ef71c1d065d9" providerId="LiveId" clId="{1E0B7D4A-08D9-49BE-A8AD-AA92E7236A6D}" dt="2026-10-29T19:18:47.356" v="434" actId="20577"/>
          <ac:spMkLst>
            <pc:docMk/>
            <pc:sldMk cId="0" sldId="281"/>
            <ac:spMk id="2" creationId="{00000000-0000-0000-0000-000000000000}"/>
          </ac:spMkLst>
        </pc:spChg>
        <pc:spChg chg="add del mod">
          <ac:chgData name="Jeffy Johanan Meka" userId="86d1ef71c1d065d9" providerId="LiveId" clId="{1E0B7D4A-08D9-49BE-A8AD-AA92E7236A6D}" dt="2026-10-29T19:18:41.935" v="433" actId="21"/>
          <ac:spMkLst>
            <pc:docMk/>
            <pc:sldMk cId="0" sldId="281"/>
            <ac:spMk id="5" creationId="{3EA9C733-372B-F252-7C05-DA50DDF758CD}"/>
          </ac:spMkLst>
        </pc:spChg>
        <pc:graphicFrameChg chg="mod modGraphic">
          <ac:chgData name="Jeffy Johanan Meka" userId="86d1ef71c1d065d9" providerId="LiveId" clId="{1E0B7D4A-08D9-49BE-A8AD-AA92E7236A6D}" dt="2026-10-29T19:18:55.424" v="435" actId="1076"/>
          <ac:graphicFrameMkLst>
            <pc:docMk/>
            <pc:sldMk cId="0" sldId="281"/>
            <ac:graphicFrameMk id="3" creationId="{00000000-0000-0000-0000-000000000000}"/>
          </ac:graphicFrameMkLst>
        </pc:graphicFrameChg>
      </pc:sldChg>
      <pc:sldChg chg="addSp modSp mod">
        <pc:chgData name="Jeffy Johanan Meka" userId="86d1ef71c1d065d9" providerId="LiveId" clId="{1E0B7D4A-08D9-49BE-A8AD-AA92E7236A6D}" dt="2026-10-29T19:28:42.999" v="627" actId="1035"/>
        <pc:sldMkLst>
          <pc:docMk/>
          <pc:sldMk cId="0" sldId="282"/>
        </pc:sldMkLst>
        <pc:spChg chg="mod">
          <ac:chgData name="Jeffy Johanan Meka" userId="86d1ef71c1d065d9" providerId="LiveId" clId="{1E0B7D4A-08D9-49BE-A8AD-AA92E7236A6D}" dt="2026-10-29T19:24:31.324" v="533" actId="404"/>
          <ac:spMkLst>
            <pc:docMk/>
            <pc:sldMk cId="0" sldId="282"/>
            <ac:spMk id="2" creationId="{00000000-0000-0000-0000-000000000000}"/>
          </ac:spMkLst>
        </pc:spChg>
        <pc:picChg chg="add mod">
          <ac:chgData name="Jeffy Johanan Meka" userId="86d1ef71c1d065d9" providerId="LiveId" clId="{1E0B7D4A-08D9-49BE-A8AD-AA92E7236A6D}" dt="2026-10-29T19:28:42.999" v="627" actId="1035"/>
          <ac:picMkLst>
            <pc:docMk/>
            <pc:sldMk cId="0" sldId="282"/>
            <ac:picMk id="6" creationId="{6CF355D1-0397-640A-B2C0-89C8389BCE97}"/>
          </ac:picMkLst>
        </pc:picChg>
      </pc:sldChg>
      <pc:sldChg chg="addSp modSp mod">
        <pc:chgData name="Jeffy Johanan Meka" userId="86d1ef71c1d065d9" providerId="LiveId" clId="{1E0B7D4A-08D9-49BE-A8AD-AA92E7236A6D}" dt="2026-10-29T19:29:01.910" v="646" actId="22"/>
        <pc:sldMkLst>
          <pc:docMk/>
          <pc:sldMk cId="0" sldId="283"/>
        </pc:sldMkLst>
        <pc:spChg chg="mod">
          <ac:chgData name="Jeffy Johanan Meka" userId="86d1ef71c1d065d9" providerId="LiveId" clId="{1E0B7D4A-08D9-49BE-A8AD-AA92E7236A6D}" dt="2026-10-29T19:26:17.130" v="580" actId="113"/>
          <ac:spMkLst>
            <pc:docMk/>
            <pc:sldMk cId="0" sldId="283"/>
            <ac:spMk id="2" creationId="{00000000-0000-0000-0000-000000000000}"/>
          </ac:spMkLst>
        </pc:spChg>
        <pc:spChg chg="mod">
          <ac:chgData name="Jeffy Johanan Meka" userId="86d1ef71c1d065d9" providerId="LiveId" clId="{1E0B7D4A-08D9-49BE-A8AD-AA92E7236A6D}" dt="2026-10-29T19:26:22.186" v="584" actId="403"/>
          <ac:spMkLst>
            <pc:docMk/>
            <pc:sldMk cId="0" sldId="283"/>
            <ac:spMk id="3" creationId="{00000000-0000-0000-0000-000000000000}"/>
          </ac:spMkLst>
        </pc:spChg>
        <pc:picChg chg="add">
          <ac:chgData name="Jeffy Johanan Meka" userId="86d1ef71c1d065d9" providerId="LiveId" clId="{1E0B7D4A-08D9-49BE-A8AD-AA92E7236A6D}" dt="2026-10-29T19:29:01.910" v="646" actId="22"/>
          <ac:picMkLst>
            <pc:docMk/>
            <pc:sldMk cId="0" sldId="283"/>
            <ac:picMk id="5" creationId="{73F80F46-748F-7514-8B8C-813F6E4AED8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  <a:t>‹#›</a:t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ubtitle 2"/>
          <p:cNvSpPr>
            <a:spLocks noGrp="1"/>
          </p:cNvSpPr>
          <p:nvPr>
            <p:ph type="subTitle" idx="1"/>
          </p:nvPr>
        </p:nvSpPr>
        <p:spPr>
          <a:xfrm>
            <a:off x="1193800" y="1989138"/>
            <a:ext cx="9702800" cy="69373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  <a:defRPr sz="1600" b="1">
                <a:solidFill>
                  <a:srgbClr val="0F172A"/>
                </a:solidFill>
              </a:defRPr>
            </a:pPr>
            <a:r>
              <a:t>School of Computer Science and Engineering</a:t>
            </a:r>
          </a:p>
        </p:txBody>
      </p:sp>
      <p:pic>
        <p:nvPicPr>
          <p:cNvPr id="2051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988" y="528638"/>
            <a:ext cx="3452812" cy="1371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TextBox 5"/>
          <p:cNvSpPr txBox="1"/>
          <p:nvPr/>
        </p:nvSpPr>
        <p:spPr>
          <a:xfrm>
            <a:off x="8895671" y="528638"/>
            <a:ext cx="3149123" cy="3277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>
              <a:buNone/>
              <a:defRPr sz="1700" b="1">
                <a:solidFill>
                  <a:srgbClr val="2563EB"/>
                </a:solidFill>
              </a:defRPr>
            </a:pPr>
            <a:r>
              <a:rPr dirty="0"/>
              <a:t>Deep Learning Project Review-2</a:t>
            </a:r>
          </a:p>
        </p:txBody>
      </p:sp>
      <p:sp>
        <p:nvSpPr>
          <p:cNvPr id="2053" name="TextBox 6"/>
          <p:cNvSpPr txBox="1"/>
          <p:nvPr/>
        </p:nvSpPr>
        <p:spPr>
          <a:xfrm>
            <a:off x="760412" y="2395424"/>
            <a:ext cx="10671175" cy="11346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>
              <a:buNone/>
              <a:defRPr sz="2200" b="1">
                <a:solidFill>
                  <a:srgbClr val="0F172A"/>
                </a:solidFill>
              </a:defRPr>
            </a:pPr>
            <a:r>
              <a:rPr sz="3600" dirty="0"/>
              <a:t>VISTA FLARE</a:t>
            </a:r>
            <a:r>
              <a:rPr sz="3000" dirty="0"/>
              <a:t>: </a:t>
            </a:r>
            <a:endParaRPr lang="en-IN" sz="3000" dirty="0"/>
          </a:p>
          <a:p>
            <a:pPr marL="0" indent="0" algn="ctr">
              <a:buNone/>
              <a:defRPr sz="2200" b="1">
                <a:solidFill>
                  <a:srgbClr val="0F172A"/>
                </a:solidFill>
              </a:defRPr>
            </a:pPr>
            <a:r>
              <a:rPr sz="3000" dirty="0"/>
              <a:t>AI-POWERED CAREER GUIDANCE &amp; SKILL-MATCHING</a:t>
            </a:r>
          </a:p>
        </p:txBody>
      </p:sp>
      <p:sp>
        <p:nvSpPr>
          <p:cNvPr id="2054" name="TextBox 7"/>
          <p:cNvSpPr txBox="1"/>
          <p:nvPr/>
        </p:nvSpPr>
        <p:spPr>
          <a:xfrm>
            <a:off x="1265772" y="4355759"/>
            <a:ext cx="2906712" cy="12105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 sz="1200" b="1">
                <a:solidFill>
                  <a:srgbClr val="0F172A"/>
                </a:solidFill>
              </a:defRPr>
            </a:pPr>
            <a:r>
              <a:rPr sz="2000" dirty="0"/>
              <a:t>Project Guide:</a:t>
            </a:r>
            <a:endParaRPr lang="en-US" altLang="en-US" sz="1800" dirty="0"/>
          </a:p>
          <a:p>
            <a:pPr marL="0" indent="0" algn="ctr">
              <a:buNone/>
              <a:defRPr sz="1200" b="1">
                <a:solidFill>
                  <a:srgbClr val="2563EB"/>
                </a:solidFill>
              </a:defRPr>
            </a:pPr>
            <a:r>
              <a:rPr lang="en-IN" sz="2000" dirty="0"/>
              <a:t>Dr. </a:t>
            </a:r>
            <a:r>
              <a:rPr lang="en-IN" sz="2000" dirty="0" err="1"/>
              <a:t>Palacharla</a:t>
            </a:r>
            <a:r>
              <a:rPr lang="en-IN" sz="2000" dirty="0"/>
              <a:t> Ravi Kumar</a:t>
            </a:r>
          </a:p>
          <a:p>
            <a:pPr marL="0" indent="0" algn="ctr">
              <a:buNone/>
              <a:defRPr sz="1100">
                <a:solidFill>
                  <a:srgbClr val="475569"/>
                </a:solidFill>
              </a:defRPr>
            </a:pPr>
            <a:r>
              <a:rPr sz="1800" dirty="0"/>
              <a:t> S</a:t>
            </a:r>
            <a:r>
              <a:rPr lang="en-IN" sz="1800" dirty="0"/>
              <a:t>COPE Department</a:t>
            </a:r>
            <a:endParaRPr sz="1800" dirty="0"/>
          </a:p>
        </p:txBody>
      </p:sp>
      <p:sp>
        <p:nvSpPr>
          <p:cNvPr id="2055" name="TextBox 8"/>
          <p:cNvSpPr txBox="1"/>
          <p:nvPr/>
        </p:nvSpPr>
        <p:spPr>
          <a:xfrm>
            <a:off x="7870371" y="3936380"/>
            <a:ext cx="3756479" cy="228780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 sz="1200" b="1">
                <a:solidFill>
                  <a:srgbClr val="0F172A"/>
                </a:solidFill>
              </a:defRPr>
            </a:pPr>
            <a:r>
              <a:rPr sz="2000" dirty="0"/>
              <a:t>Presented by:</a:t>
            </a:r>
            <a:endParaRPr lang="en-US" altLang="en-US" sz="1800" dirty="0"/>
          </a:p>
          <a:p>
            <a:pPr marL="0" indent="0">
              <a:buNone/>
              <a:defRPr sz="1100">
                <a:solidFill>
                  <a:srgbClr val="475569"/>
                </a:solidFill>
              </a:defRPr>
            </a:pPr>
            <a:r>
              <a:rPr sz="1800" dirty="0"/>
              <a:t>[</a:t>
            </a:r>
            <a:r>
              <a:rPr lang="en-IN" sz="1800" dirty="0"/>
              <a:t>Meka Jeffy Johanan  24BCE7728</a:t>
            </a:r>
            <a:r>
              <a:rPr sz="1800" dirty="0"/>
              <a:t>]</a:t>
            </a:r>
          </a:p>
          <a:p>
            <a:pPr marL="0" indent="0">
              <a:buNone/>
              <a:defRPr sz="1100">
                <a:solidFill>
                  <a:srgbClr val="475569"/>
                </a:solidFill>
              </a:defRPr>
            </a:pPr>
            <a:r>
              <a:rPr sz="1800" dirty="0"/>
              <a:t>[</a:t>
            </a:r>
            <a:r>
              <a:rPr lang="en-IN" sz="1800" dirty="0"/>
              <a:t>Sai Mohit Pasupuleti  24BCE7899</a:t>
            </a:r>
            <a:r>
              <a:rPr sz="1800" dirty="0"/>
              <a:t>]</a:t>
            </a:r>
          </a:p>
          <a:p>
            <a:pPr marL="0" indent="0">
              <a:buNone/>
              <a:defRPr sz="1100">
                <a:solidFill>
                  <a:srgbClr val="475569"/>
                </a:solidFill>
              </a:defRPr>
            </a:pPr>
            <a:r>
              <a:rPr sz="1800" dirty="0"/>
              <a:t>[</a:t>
            </a:r>
            <a:r>
              <a:rPr lang="en-IN" sz="1800" dirty="0"/>
              <a:t>Mayukh Vaishnav  24BCE7456</a:t>
            </a:r>
            <a:r>
              <a:rPr sz="1800" dirty="0"/>
              <a:t>]</a:t>
            </a:r>
          </a:p>
          <a:p>
            <a:pPr marL="0" indent="0">
              <a:buNone/>
              <a:defRPr sz="1100">
                <a:solidFill>
                  <a:srgbClr val="475569"/>
                </a:solidFill>
              </a:defRPr>
            </a:pPr>
            <a:r>
              <a:rPr sz="1800" dirty="0"/>
              <a:t>[</a:t>
            </a:r>
            <a:r>
              <a:rPr lang="en-IN" sz="1800" dirty="0"/>
              <a:t>Annam Sai Karthik  24BCE7003</a:t>
            </a:r>
            <a:r>
              <a:rPr sz="1800" dirty="0"/>
              <a:t>]</a:t>
            </a:r>
            <a:endParaRPr lang="en-IN" sz="1800" dirty="0"/>
          </a:p>
          <a:p>
            <a:pPr marL="0" indent="0">
              <a:buNone/>
              <a:defRPr sz="1100">
                <a:solidFill>
                  <a:srgbClr val="475569"/>
                </a:solidFill>
              </a:defRPr>
            </a:pPr>
            <a:r>
              <a:rPr lang="en-IN" sz="1800" dirty="0"/>
              <a:t>[Hemanth  24</a:t>
            </a:r>
            <a:endParaRPr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97E46-8B49-0E4B-E3C2-1135C20EC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713"/>
          </a:xfrm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Outline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5233988"/>
          </a:xfrm>
          <a:ln/>
        </p:spPr>
        <p:txBody>
          <a:bodyPr vert="horz" wrap="square" lIns="91440" tIns="45720" rIns="91440" bIns="45720" numCol="2" anchor="t" anchorCtr="0"/>
          <a:lstStyle/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Abstract &amp; Executive Summary</a:t>
            </a:r>
            <a:endParaRPr lang="en-US" altLang="en-US" sz="1800" dirty="0"/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Introduction &amp; Industry Motivation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Problem Statement &amp; Technical Challenges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Project Objectives (Measurable Milestones)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Comprehensive Literature Review (16 Peer-Reviewed Papers)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Software &amp; Hardware Requirements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Proposed Solution &amp; Architectural Justification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Dataset Details &amp; Feature Engineering Methodology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System Architecture &amp; Deep Learning Methodology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Deep Learning Model Architectures (ANN, 1D CNN, LSTM)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Experimental Results &amp; Benchmark Comparison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Training Dynamics &amp; Confusion Matrix Error Analysis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Conclusion &amp; System Deployment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Future Enhancements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Academic References (IEEE Standard Format)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81FFCB-7571-CBEF-0F23-82F3E9F73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ABSTRACT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50482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50000"/>
              </a:lnSpc>
              <a:spcAft>
                <a:spcPts val="800"/>
              </a:spcAft>
              <a:buNone/>
              <a:defRPr sz="1350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The rapid evolution of modern workforce competencies has created a critical challenge in career path alignment, job discovery, and skill-gap identification. Vista Flare addresses this challenge through an engineered, full-stack career development platform powered by a deep learning recommendation engine. We trained and evaluated three neural architectures—a Deep Artificial Neural Network (MLP), a 1D Convolutional Neural Network (CNN), and a Long Short-Term Memory (LSTM) network—on a dataset of 22,000 synthetic skill profiles spanning 85 career roles, 373 canonical skills, and 508 role-skill associations. The multi-layer feed-forward ANN achieved superior performance with 68.27% top-1 accuracy, 85.73% top-3 accuracy, and a weighted F1-score of 68.21% across 61,013 trainable parameters, vastly outperforming 1D CNN (17.73%) and LSTM (47.52%) because tabular skill profiles represent an unordered set rather than a spatial or temporal sequence. Integrated within a </a:t>
            </a:r>
            <a:r>
              <a:rPr sz="1800" dirty="0" err="1"/>
              <a:t>FastAPI</a:t>
            </a:r>
            <a:r>
              <a:rPr sz="1800" dirty="0"/>
              <a:t> and React architecture, the model delivers real-time inferences with 0.336 </a:t>
            </a:r>
            <a:r>
              <a:rPr sz="1800" dirty="0" err="1"/>
              <a:t>ms</a:t>
            </a:r>
            <a:r>
              <a:rPr sz="1800" dirty="0"/>
              <a:t>/sample latency and incorporates an automated Scikit-learn fallback mechanism, dynamic skill-gap remediation, personalized learning roadmaps, and real-time external job ingestion.</a:t>
            </a:r>
            <a:endParaRPr lang="en-IN" alt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E0A61-B862-46A9-1E5D-6AF26059B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INTRODUCTION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Emergence of Dynamic Tech Roles: Fast-shifting industry demands create massive skill mismatches between job seekers' true proficiencies and modern multi-disciplinary career requirements.</a:t>
            </a:r>
            <a:endParaRPr lang="en-IN" altLang="en-US" sz="2000" dirty="0"/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Shortcomings of Traditional Recruitment: Conventional keyword-based search and static heuristic filters fail to model non-linear skill synergies, resulting in irrelevant job recommendations and unguided career transitions.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Relevance of Deep Learning in Career Guidance: Deep neural networks can effectively model complex non-linear combinations of core and complementary skills to predict career-role compatibility with calibrated probabilistic confidence.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Vista Flare Platform Overview: Vista Flare couples deep learning role classification directly with granular skill-gap analysis, interactive learning roadmaps, and live external market job ingestion (Arbeitnow, </a:t>
            </a:r>
            <a:r>
              <a:rPr sz="2000" dirty="0" err="1"/>
              <a:t>Remotive</a:t>
            </a:r>
            <a:r>
              <a:rPr sz="2000" dirty="0"/>
              <a:t>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89639C-2CA0-44EB-CAB5-D87A58D46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704020202020204" pitchFamily="34" charset="0"/>
              <a:buChar char="•"/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High-Dimensional, Sparse Skill Representation: Candidate profiles consist of sparse, heterogeneous subsets of hundreds of potential industry competencies with varying proficiency levels, making naive representation ineffective.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Absence of Natural Sequence in Competencies: Unlike natural language sentences or speech waveforms, user skills form an unordered 'bag-of-skills', causing standard sequential and convolutional filters to suffer from severe inductive bias mismatch.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Inadequate Fine-Grained Role Discrimination: Distinguishing between 85 overlapping technical specializations (e.g., Data Scientist vs. ML Engineer vs. Data Engineer) requires capturing delicate co-occurrence thresholds across shared foundational tools.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Lack of Actionable, Verified Career Guidance: Existing academic prototypes output isolated classification labels without quantifying missing skill gaps, estimating learning trajectories, or connecting to real-world employment openings.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42193-453A-235A-82FA-63E7DDFE7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OBJECTIVES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Develop High-Fidelity Skill Profile Vectorization: Formulate an alias-normalized, proficiency-weighted vectorization pipeline converting candidate skills across 373 canonical dimensions into continuous representations in [0.0, 1.0].</a:t>
            </a:r>
            <a:endParaRPr lang="en-IN" altLang="en-US" sz="2000" dirty="0"/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Design &amp; Train Multi-Class Neural Architectures: Implement, benchmark, and evaluate Deep ANN (MLP), 1D CNN, and LSTM architectures on a 22,000-sample dataset across 85 fine-grained career roles under stratified 70/15/15 splits.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Conduct Rigorous Architectural Evaluation: Quantify classification accuracy, Top-3 categorical accuracy, weighted F1-score, cross-entropy loss, parameter efficiency, and CPU inference latency across all candidate models.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Deploy Resilient End-to-End System: Integrate the optimal model into an asynchronous </a:t>
            </a:r>
            <a:r>
              <a:rPr sz="2000" dirty="0" err="1"/>
              <a:t>FastAPI</a:t>
            </a:r>
            <a:r>
              <a:rPr sz="2000" dirty="0"/>
              <a:t> backend and React frontend with an automated fallback mechanism, dynamic skill-gap extraction, and live job-board data ingestion.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826AC0-50E1-6238-917D-522A66342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849313" y="365125"/>
            <a:ext cx="10515600" cy="1325563"/>
          </a:xfrm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LITERATURE REVIEW - OVERVIEW &amp; TAXONOMY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Comprehensive Survey Scope: Conducted an extensive literature review of 16 peer-reviewed research papers published in premier IEEE, ACM (SIGIR, </a:t>
            </a:r>
            <a:r>
              <a:rPr sz="1600" dirty="0" err="1"/>
              <a:t>RecSys</a:t>
            </a:r>
            <a:r>
              <a:rPr sz="1600" dirty="0"/>
              <a:t>, CIKM, TMIS), AAAI, and ACL/EACL venues spanning 2018 to 2025.</a:t>
            </a:r>
            <a:endParaRPr lang="en-US" altLang="en-US" sz="1600" dirty="0"/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Core Research Taxonomies Investigated: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1. Ability-Aware &amp; Multimodal Person-Job Fit (APJFNN, PJFNN, TDGMN) - Focuses on matching candidate qualifications against job requirements using deep text representations.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2. Graph-Based &amp; Preference Networks (DPGNN, MVCTN) - Explores bipartite interaction graphs and co-teaching to resolve interaction sparsity.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3. Sequential Trajectories &amp; Taxonomy Transformers (</a:t>
            </a:r>
            <a:r>
              <a:rPr sz="1600" dirty="0" err="1"/>
              <a:t>CareerBERT</a:t>
            </a:r>
            <a:r>
              <a:rPr sz="1600" dirty="0"/>
              <a:t>, </a:t>
            </a:r>
            <a:r>
              <a:rPr sz="1600" dirty="0" err="1"/>
              <a:t>JobBERT</a:t>
            </a:r>
            <a:r>
              <a:rPr sz="1600" dirty="0"/>
              <a:t>, CP-PJF) - Models longitudinal career paths and title normalization.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4. Fine-Grained Skill Extraction &amp; Surveys (</a:t>
            </a:r>
            <a:r>
              <a:rPr sz="1600" dirty="0" err="1"/>
              <a:t>SkillSpan</a:t>
            </a:r>
            <a:r>
              <a:rPr sz="1600" dirty="0"/>
              <a:t>, ESCOXLM-R, IEEE Talent Survey 2025) - Benchmarks ontology extraction, token spans, and LLM prompting.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Identified Literature Gap: Most prior studies evaluate either verbose free-text CVs or bipartite interaction graphs. Vista Flare bridges the gap by optimizing deep neural architectures specifically for structured, unordered skill profiles with sub-millisecond inference and actionable gap remediation</a:t>
            </a:r>
            <a:r>
              <a:rPr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FC86D-37E4-EE2C-3436-FB866172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661194"/>
              </p:ext>
            </p:extLst>
          </p:nvPr>
        </p:nvGraphicFramePr>
        <p:xfrm>
          <a:off x="838200" y="434975"/>
          <a:ext cx="10149840" cy="5853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1998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Sl No.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Title, Year of Publication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Methodology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Dataset Details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Dis-Advantages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Results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0279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Enhancing Person-Job Fit for Talent Recruitment: An Ability-aware Neural Network Approach</a:t>
                      </a:r>
                      <a:br>
                        <a:rPr sz="1200"/>
                      </a:br>
                      <a:r>
                        <a:rPr sz="1200"/>
                        <a:t>(2018 / 2020)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APJFNN: Word-level RNN representations with hierarchical attention across job experiences &amp; requirements.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High-tech enterprise hiring records (&gt;100k real applications &amp; resumes).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Heavy word-level computation; requires verbose historical CV text; fails on new graduates.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AUC: 0.835, Acc: 77.8%; outperformed SVM and feature baselines by 8-12%.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0279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2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JobBERT</a:t>
                      </a:r>
                      <a:r>
                        <a:rPr sz="1200" dirty="0"/>
                        <a:t>: Understanding Job Titles through Skills</a:t>
                      </a:r>
                      <a:br>
                        <a:rPr sz="1200" dirty="0"/>
                      </a:br>
                      <a:r>
                        <a:rPr sz="1200" dirty="0"/>
                        <a:t>(2021)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Contextual Transformer (BERT) augmented with distant skill supervision &amp; token gating for title normalization.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European job vacancies mapped to ESCO taxonomy (2,942 occupations).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High parameter count (110M+); slow CPU inference; ignores tabular skill levels.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Outperformed Sentence-BERT by &gt;12% MRR on ESCO job title normalization.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279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3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Person-Job Fit: Adapting the Right Talent for the Right Job with Joint Representation Learning</a:t>
                      </a:r>
                      <a:br>
                        <a:rPr sz="1200"/>
                      </a:br>
                      <a:r>
                        <a:rPr sz="1200"/>
                        <a:t>(2018)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PJFNN: CNN mapping talent qualifications and job requirements into joint latent space.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Commercial recruitment dataset (&gt;130k online job applications).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CNN filters capture local n-grams in text, but fail on unordered structured skill sets.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Outperformed Matrix Factorization and LDA by &gt;14.5% in AUC and Recall@K.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0279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4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Domain Adaptation for Person-Job Fit with Transferable Deep Global Match Network</a:t>
                      </a:r>
                      <a:br>
                        <a:rPr sz="1200"/>
                      </a:br>
                      <a:r>
                        <a:rPr sz="1200"/>
                        <a:t>(2019)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TDGMN: Adversarial multi-level domain adaptation across sentences, matching, &amp; documents.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Cross-domain recruitment dataset across 5 fields (IT, Finance, Sales; 60k pairs).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Adversarial training is unstable; requires large unlabeled target corpora; no skill scoring.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/>
                        <a:t>Improved cross-domain transfer by 4.8% AUC and 6.2% F1 over non-transfer models.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967448"/>
              </p:ext>
            </p:extLst>
          </p:nvPr>
        </p:nvGraphicFramePr>
        <p:xfrm>
          <a:off x="838200" y="523875"/>
          <a:ext cx="10149840" cy="609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095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Sl No.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Title, Year of Publication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Methodology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Dataset Details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Dis-Advantages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Results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53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5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Modeling Two-Way Selection Preference for Person-Job Fit</a:t>
                      </a:r>
                      <a:br>
                        <a:rPr sz="1200"/>
                      </a:br>
                      <a:r>
                        <a:rPr sz="1200"/>
                        <a:t>(2022)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DPGNN: Dual-Perspective Graph Neural Network modeling mutual applicant-employer preferences.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Zhaopin and Lagou online recruitment platforms (&gt;200k interaction edges).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Severely impaired under cold-start conditions; fails for candidates without interaction edges.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AUC: 0.814, MRR: 0.742; outperformed unidirectional models by 5.3% in NDCG@10.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53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6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Implicit Skills Extraction Using Document Embedding and Its Use in Job Recommendation</a:t>
                      </a:r>
                      <a:br>
                        <a:rPr sz="1200"/>
                      </a:br>
                      <a:r>
                        <a:rPr sz="1200"/>
                        <a:t>(2020)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Doc2Vec document embeddings combined with semantic neighborhood mining for unstated skills.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1.1M web-crawled job descriptions across diverse IT and business domains.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Document averages lose syntactic nuance; prone to false-positive skills; lacks proficiency scales.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Boosted recommendation MRR to 0.88 (29.4% improvement over explicit keywords).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53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7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Your Career Path Matters in Person-Job Fit</a:t>
                      </a:r>
                      <a:br>
                        <a:rPr sz="1200"/>
                      </a:br>
                      <a:r>
                        <a:rPr sz="1200"/>
                        <a:t>(2022)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CP-PJF: Sequential neural encoder modeling progression preferences (consistency, likeness, continuity).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87k career trajectories and 120k application records from a major hiring platform.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Requires long chronological tenure (&gt;=3 prior roles); unsuited for college students.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Achieved AUC of 0.841 and Top-5 accuracy of 69.4% (7.1% over static PJF).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53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8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CareerBERT: Understanding Career Trajectories using Resume Embeddings and Sequence Models</a:t>
                      </a:r>
                      <a:br>
                        <a:rPr sz="1200"/>
                      </a:br>
                      <a:r>
                        <a:rPr sz="1200"/>
                        <a:t>(2023)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Hierarchical Transformer encoding CV text bullets into resume embeddings, followed by future role prediction.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Karrierewege benchmark dataset with 150k European CVs mapped to ESCO.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High latency (&gt;180 ms/query); highly sensitive to CV text formatting; lacks deterministic skill gaps.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/>
                        <a:t>MRR@10: 0.628, Recall@10: 0.741; outperformed LSTM and standard Transformers by 9.3%.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699751"/>
              </p:ext>
            </p:extLst>
          </p:nvPr>
        </p:nvGraphicFramePr>
        <p:xfrm>
          <a:off x="838200" y="557213"/>
          <a:ext cx="10149840" cy="5891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8382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Sl No.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Title, Year of Publication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Methodology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Dataset Details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Dis-Advantages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Results</a:t>
                      </a:r>
                      <a:endParaRPr lang="en-IN" sz="4000" dirty="0"/>
                    </a:p>
                  </a:txBody>
                  <a:tcPr marL="54864" marR="54864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3123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9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 Comprehensive Survey of Artificial Intelligence Techniques for Talent Analytics</a:t>
                      </a:r>
                      <a:br>
                        <a:rPr sz="1200"/>
                      </a:br>
                      <a:r>
                        <a:rPr sz="1200"/>
                        <a:t>(2025)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Taxonomical survey analyzing MLPs, CNNs, LSTMs, Transformers, &amp; GNNs in talent acquisition.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Evaluates 40+ public &amp; industrial talent datasets (LinkedIn, ESCO, O*NET, CareerBuilder).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Highlights black-box lack of interpretability and high cost of unconstrained LLMs.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Domain-adapted architectures outperformed generic NLP baselines by up to 18%.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3123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10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 Job Recommendation System Based on Skill Importance and Deep Learning Label Prediction</a:t>
                      </a:r>
                      <a:br>
                        <a:rPr sz="1200"/>
                      </a:br>
                      <a:r>
                        <a:rPr sz="1200"/>
                        <a:t>(2024)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LSTM deep learning label prediction for incomplete resumes + PageRank skill importance weights.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15,000 real IT resumes and technical job descriptions.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Graph PageRank combined with LSTM inference is slow; static skill graph transitions.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Achieved nDCG@10 of 87.07% and Top-3 accuracy of 78.4% on computer science roles.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3123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11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Intelligent Resume Analysis with Real-Time Multi-Platform Job Matching and Automated Skill-Gap Analysis</a:t>
                      </a:r>
                      <a:br>
                        <a:rPr sz="1200"/>
                      </a:br>
                      <a:r>
                        <a:rPr sz="1200"/>
                        <a:t>(2024)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Multi-stage pipeline: PDF parsing, spaCy NER, cosine distance, &amp; real-time scraping connectors.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8,500 candidate resumes and 12,000 live scraped job postings.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Scraping triggers rate limits &amp; bot blocks; rule-based gap analysis lacks probabilistic calibration.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Achieved 82.3% precision in job recommendation; reduced screening turnaround by 64%.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3123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12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Resume Analysis and Job Recommendation Using Machine Learning and NLP</a:t>
                      </a:r>
                      <a:br>
                        <a:rPr sz="1200"/>
                      </a:br>
                      <a:r>
                        <a:rPr sz="1200"/>
                        <a:t>(2023)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Multi-class Random Forest and Deep MLP classification mapping skill features to target roles.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Kaggle Resume Dataset (2,400 resumes across 25 broad career categories).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Coarse role granularity (only 25 categories); small sample size risks deep-layer overfitting.</a:t>
                      </a:r>
                      <a:endParaRPr lang="en-IN" sz="36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/>
                        <a:t>Reported 76.5% accuracy across 25 career roles with sub-second response times.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023343"/>
              </p:ext>
            </p:extLst>
          </p:nvPr>
        </p:nvGraphicFramePr>
        <p:xfrm>
          <a:off x="838200" y="794657"/>
          <a:ext cx="10149840" cy="559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 err="1"/>
                        <a:t>Sl</a:t>
                      </a:r>
                      <a:r>
                        <a:rPr sz="1400" dirty="0"/>
                        <a:t> No.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Title, Year of Publication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Methodology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Dataset Details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Dis-Advantages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Results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Learning to Match Jobs with Resumes from Sparse Interaction Data using Multi-View Co-Teaching</a:t>
                      </a:r>
                      <a:br>
                        <a:rPr sz="1200"/>
                      </a:br>
                      <a:r>
                        <a:rPr sz="1200"/>
                        <a:t>(2020)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MVCTN: Multi-View Co-Teaching Network with parameter sharing &amp; adversarial noise filtering.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Commercial recruitment logs with 48,000 resume-job application pairs.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Relies on paired interaction records; cannot assist cold-start users; large training footprint.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/>
                        <a:t>Improved AUC by 6.7% and NDCG@5 by 8.4% over single-view matching baselines.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SkillSpan: Hard and Soft Skill Extraction from English Job Postings</a:t>
                      </a:r>
                      <a:br>
                        <a:rPr sz="1200"/>
                      </a:br>
                      <a:r>
                        <a:rPr sz="1200"/>
                        <a:t>(2022)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Sequence labeling using domain-adapted RoBERTa for token-level hard &amp; soft skill spans.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14.5k job posting sentences with 12.5k annotated skill spans mapped to ESCO.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Token-level tagging misses cross-sentence skill synergies; high false-positive verb rates.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Achieved span F1 score of 67.8% on hard skills and 55.4% on soft skills.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15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Deep Learning-based Computational Job Market Analysis: Survey on Skill Extraction &amp; Classification</a:t>
                      </a:r>
                      <a:br>
                        <a:rPr sz="1200"/>
                      </a:br>
                      <a:r>
                        <a:rPr sz="1200"/>
                        <a:t>(2024)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Comparative review of neural architectures (CNN, BiLSTM, LLMs) for multi-label skill mapping.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Synthesizes 30+ academic and commercial job market datasets (2018-2024).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Notes that large LLMs suffer prohibitive inference economics, whereas MLPs offer high speed.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Domain-adapted classifiers reach 15% higher macro-F1 than generalist zero-shot models.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/>
                        <a:t>Rethinking Skill Extraction in the Job Market Domain using Large Language Models</a:t>
                      </a:r>
                      <a:br>
                        <a:rPr sz="1200" dirty="0"/>
                      </a:br>
                      <a:r>
                        <a:rPr sz="1200" dirty="0"/>
                        <a:t>(2024)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In-context few-shot learning with Large Language Models bypassing rigid BIO tagging schemes.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Standardized benchmark across 6 public skill extraction datasets.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Prohibitive token costs; non-deterministic output; latency (&gt;1s) unsuited for live profiling.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8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/>
                        <a:t>Outperformed supervised BIO taggers on syntactically complex, non-standard skill phrasing.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838200" y="185112"/>
            <a:ext cx="10515600" cy="1325563"/>
          </a:xfrm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Software and Hardware Requirements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430948"/>
              </p:ext>
            </p:extLst>
          </p:nvPr>
        </p:nvGraphicFramePr>
        <p:xfrm>
          <a:off x="838200" y="1466397"/>
          <a:ext cx="10241280" cy="520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2779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/>
                        <a:t>SOFTWARE REQUIREMENTS</a:t>
                      </a:r>
                      <a:endParaRPr lang="en-IN" sz="4800" dirty="0"/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/>
                        <a:t>HARDWARE REQUIREMENTS</a:t>
                      </a:r>
                      <a:endParaRPr lang="en-IN" sz="4800" dirty="0"/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6834">
                <a:tc>
                  <a:txBody>
                    <a:bodyPr/>
                    <a:lstStyle/>
                    <a:p>
                      <a:pPr marL="0" indent="0" algn="l">
                        <a:buNone/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400"/>
                        <a:t>• Operating System: Microsoft Windows 11 / Linux (Ubuntu 22.04 LTS)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sz="1400"/>
                        <a:t>• Programming Languages: Python 3.12 (Backend &amp; ML), TypeScript 5.6 (Frontend)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sz="1400"/>
                        <a:t>• Deep Learning Frameworks: TensorFlow 2.18.0, Keras 3.6.0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sz="1400"/>
                        <a:t>• Machine Learning &amp; Scientific Stack: Scikit-learn 1.6.0, NumPy 1.26, Pandas 2.2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sz="1400"/>
                        <a:t>• Backend Framework: FastAPI 0.115.6, Uvicorn 0.34, SQLAlchemy 2.0 ORM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sz="1400"/>
                        <a:t>• Frontend Web Framework: React 19, Vite 6.0, Tailwind CSS 3.4, Recharts 2.15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sz="1400"/>
                        <a:t>• Database Engine: SQLite 3 with Write-Ahead Logging (WAL mode)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sz="1400"/>
                        <a:t>• Visualization &amp; Auditing: Matplotlib 3.10, Seaborn 0.13, python-pptx 1.0.2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400" dirty="0"/>
                        <a:t>• Development Workstation:</a:t>
                      </a:r>
                      <a:br>
                        <a:rPr sz="1400" dirty="0"/>
                      </a:br>
                      <a:r>
                        <a:rPr sz="1400" dirty="0"/>
                        <a:t>  - CPU: Intel Core i7 / AMD Ryzen 7 (8 cores / 16 threads, 3.8 GHz+)</a:t>
                      </a:r>
                      <a:br>
                        <a:rPr sz="1400" dirty="0"/>
                      </a:br>
                      <a:r>
                        <a:rPr sz="1400" dirty="0"/>
                        <a:t>  - System Memory (RAM): 16 GB DDR4/DDR5 (High-throughput batch training)</a:t>
                      </a:r>
                      <a:br>
                        <a:rPr sz="1400" dirty="0"/>
                      </a:br>
                      <a:r>
                        <a:rPr sz="1400" dirty="0"/>
                        <a:t>  - Storage: 512 GB </a:t>
                      </a:r>
                      <a:r>
                        <a:rPr sz="1400" dirty="0" err="1"/>
                        <a:t>NVMe</a:t>
                      </a:r>
                      <a:r>
                        <a:rPr sz="1400" dirty="0"/>
                        <a:t> M.2 Solid State Drive</a:t>
                      </a:r>
                      <a:br>
                        <a:rPr sz="1400" dirty="0"/>
                      </a:br>
                      <a:br>
                        <a:rPr sz="1400" dirty="0"/>
                      </a:br>
                      <a:r>
                        <a:rPr sz="1400" dirty="0"/>
                        <a:t>• Model Training Hardware:</a:t>
                      </a:r>
                      <a:br>
                        <a:rPr sz="1400" dirty="0"/>
                      </a:br>
                      <a:r>
                        <a:rPr sz="1400" dirty="0"/>
                        <a:t>  - GPU Acceleration: NVIDIA GeForce RTX 3060 / 4060 (8 GB+ VRAM, CUDA 12.x)</a:t>
                      </a:r>
                      <a:br>
                        <a:rPr sz="1400" dirty="0"/>
                      </a:br>
                      <a:r>
                        <a:rPr sz="1400" dirty="0"/>
                        <a:t>  - Total Multi-Model Training Duration: ~650 seconds across all 3 models</a:t>
                      </a:r>
                      <a:br>
                        <a:rPr sz="1400" dirty="0"/>
                      </a:br>
                      <a:br>
                        <a:rPr sz="1400" dirty="0"/>
                      </a:br>
                      <a:r>
                        <a:rPr sz="1400" dirty="0"/>
                        <a:t>• Production Runtime &amp; Serving Hardware:</a:t>
                      </a:r>
                      <a:br>
                        <a:rPr sz="1400" dirty="0"/>
                      </a:br>
                      <a:r>
                        <a:rPr sz="1400" dirty="0"/>
                        <a:t>  - Low-Footprint CPU Serving: &lt;0.35 </a:t>
                      </a:r>
                      <a:r>
                        <a:rPr sz="1400" dirty="0" err="1"/>
                        <a:t>ms</a:t>
                      </a:r>
                      <a:r>
                        <a:rPr sz="1400" dirty="0"/>
                        <a:t> inference per sample without GPU</a:t>
                      </a:r>
                      <a:br>
                        <a:rPr sz="1400" dirty="0"/>
                      </a:br>
                      <a:r>
                        <a:rPr sz="1400" dirty="0"/>
                        <a:t>  - Client-Side Footprint: Modern web browser (Chrome, Edge, Firefox) &lt;150 MB RAM</a:t>
                      </a:r>
                      <a:endParaRPr lang="en-IN" sz="36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FD1C708-59B9-D3E3-6D71-8AA596961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PROPOSED SOLUTION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38200" y="1531711"/>
            <a:ext cx="10515600" cy="435133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Selected Model: Deep Artificial Neural Network (MLP)</a:t>
            </a:r>
            <a:endParaRPr lang="en-US" altLang="en-US" sz="1400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 Configured as a 6-layer feed-forward network: Dense(128, </a:t>
            </a:r>
            <a:r>
              <a:rPr sz="1400" dirty="0" err="1"/>
              <a:t>ReLU</a:t>
            </a:r>
            <a:r>
              <a:rPr sz="1400" dirty="0"/>
              <a:t>) -&gt; Dropout(0.30) -&gt; Dense(64, </a:t>
            </a:r>
            <a:r>
              <a:rPr sz="1400" dirty="0" err="1"/>
              <a:t>ReLU</a:t>
            </a:r>
            <a:r>
              <a:rPr sz="1400" dirty="0"/>
              <a:t>) -&gt; Dropout(0.20) -&gt; Dense(32, </a:t>
            </a:r>
            <a:r>
              <a:rPr sz="1400" dirty="0" err="1"/>
              <a:t>ReLU</a:t>
            </a:r>
            <a:r>
              <a:rPr sz="1400" dirty="0"/>
              <a:t>) -&gt; Dense(85, </a:t>
            </a:r>
            <a:r>
              <a:rPr sz="1400" dirty="0" err="1"/>
              <a:t>Softmax</a:t>
            </a:r>
            <a:r>
              <a:rPr sz="1400" dirty="0"/>
              <a:t>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 Directly models continuous skill proficiency weights across 373 input features.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IN" sz="1400" dirty="0"/>
              <a:t> </a:t>
            </a:r>
            <a:r>
              <a:rPr sz="1400" dirty="0"/>
              <a:t>Key Reasons for Model Selection: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 1. Elimination of Sequential Inductive Bias: Skills represent an unordered mathematical set. Dense layers evaluate all feature interactions concurrently without assuming false spatial or temporal order.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  2. Proven Benchmark Superiority: Achieved 68.27% accuracy and 85.73% Top-3 accuracy, outperforming 1D CNN (17.73%) by +50.54% and LSTM (47.52%) by +20.75%.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  3. High Computational Efficiency: Compact footprint (61,013 parameters) enables lightning-fast inference (0.336 </a:t>
            </a:r>
            <a:r>
              <a:rPr sz="1400" dirty="0" err="1"/>
              <a:t>ms</a:t>
            </a:r>
            <a:r>
              <a:rPr sz="1400" dirty="0"/>
              <a:t>/sample) suitable for instant interactive user web sessions.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Dual-Engine Production Resilience:</a:t>
            </a:r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  • Primary Engine: TensorFlow/</a:t>
            </a:r>
            <a:r>
              <a:rPr sz="1400" dirty="0" err="1"/>
              <a:t>Keras</a:t>
            </a:r>
            <a:r>
              <a:rPr sz="1400" dirty="0"/>
              <a:t> artifact (</a:t>
            </a:r>
            <a:r>
              <a:rPr sz="1400" dirty="0" err="1"/>
              <a:t>ann_model.keras</a:t>
            </a:r>
            <a:r>
              <a:rPr sz="1400" dirty="0"/>
              <a:t>).</a:t>
            </a:r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  • Autonomous Runtime Fallback: Scikit-learn </a:t>
            </a:r>
            <a:r>
              <a:rPr sz="1400" dirty="0" err="1"/>
              <a:t>MLPClassifier</a:t>
            </a:r>
            <a:r>
              <a:rPr sz="1400" dirty="0"/>
              <a:t> (</a:t>
            </a:r>
            <a:r>
              <a:rPr sz="1400" dirty="0" err="1"/>
              <a:t>sklearn_model.pkl</a:t>
            </a:r>
            <a:r>
              <a:rPr sz="1400" dirty="0"/>
              <a:t>) guarantees seamless zero-downtime serving if TensorFlow </a:t>
            </a:r>
            <a:r>
              <a:rPr lang="en-IN" sz="1400" dirty="0"/>
              <a:t>      </a:t>
            </a:r>
            <a:r>
              <a:rPr sz="1400" dirty="0"/>
              <a:t>runtime binaries are unavailable.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8AE33F-D9DE-F82E-6666-6E1E51675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DATASET DETAILS &amp; FEATURE ENGINEERING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Dataset Source &amp; Provenance: Synthesized from Vista Flare's curated occupational taxonomy (roles.csv, skills.csv, role_skills.csv, skill_aliases.csv).</a:t>
            </a:r>
            <a:endParaRPr lang="en-IN" altLang="en-US" sz="1600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Volume &amp; Structure: 22,000 synthetic candidate profiles across 3 schema columns (</a:t>
            </a:r>
            <a:r>
              <a:rPr sz="1600" dirty="0" err="1"/>
              <a:t>role_id</a:t>
            </a:r>
            <a:r>
              <a:rPr sz="1600" dirty="0"/>
              <a:t>, </a:t>
            </a:r>
            <a:r>
              <a:rPr sz="1600" dirty="0" err="1"/>
              <a:t>role_name</a:t>
            </a:r>
            <a:r>
              <a:rPr sz="1600" dirty="0"/>
              <a:t>, </a:t>
            </a:r>
            <a:r>
              <a:rPr sz="1600" dirty="0" err="1"/>
              <a:t>skills_json</a:t>
            </a:r>
            <a:r>
              <a:rPr sz="1600" dirty="0"/>
              <a:t>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Class Balance: Perfectly balanced class distribution with 258 to 259 profiles per role across 85 distinct professional career roles.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Skill Vocabulary: 373 canonical skills covering Software Engineering, AI/ML, Cloud/DevOps, Cybersecurity, Data, and Design; normalized via 86 alias mappings.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Profile Diversity &amp; Robustness: Mean of 3.90 skills per profile (range: 0 to 14 skills). Includes exactly 23 empty profiles to guarantee model resilience against zero-input submissions.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Feature Vectorization: Continuous numerical vector in [0.0, 1.0] representing graded user proficiency: Missing=0.0, Beginner=0.35, Intermediate=0.65, Advanced=0.85, Expert=1.0.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Evaluation Partitioning: Stratified 70% Train (15,400 samples) / 15% Validation (3,300 samples) / 15% Test (3,300 samples) with global random seed 42.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B2B578-895E-1BAA-4EF0-FA755A7B6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38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METHODOLOGY &amp; ARCHITECTURE</a:t>
            </a:r>
          </a:p>
        </p:txBody>
      </p:sp>
      <p:pic>
        <p:nvPicPr>
          <p:cNvPr id="15363" name="Picture 15362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90" y="1371599"/>
            <a:ext cx="10981509" cy="49915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B7D47F-71F1-E248-2447-94DC624CB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6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MODEL EXPLANATION &amp; ARCHITECTURAL COMPARISON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1. Deep ANN / MLP (Primary Model — 61,013 Trainable Parameters):</a:t>
            </a:r>
            <a:endParaRPr lang="en-IN" altLang="en-US" sz="1100" dirty="0"/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lang="en-IN" sz="1100" dirty="0"/>
              <a:t>   • </a:t>
            </a:r>
            <a:r>
              <a:rPr sz="1100" dirty="0"/>
              <a:t>Input: (373,) continuous skill vector. Dense(128, </a:t>
            </a:r>
            <a:r>
              <a:rPr sz="1100" dirty="0" err="1"/>
              <a:t>ReLU</a:t>
            </a:r>
            <a:r>
              <a:rPr sz="1100" dirty="0"/>
              <a:t>) -&gt; Dropout(0.30) -&gt; Dense(64, </a:t>
            </a:r>
            <a:r>
              <a:rPr sz="1100" dirty="0" err="1"/>
              <a:t>ReLU</a:t>
            </a:r>
            <a:r>
              <a:rPr sz="1100" dirty="0"/>
              <a:t>) -&gt; Dropout(0.20) -&gt; Dense(32, </a:t>
            </a:r>
            <a:r>
              <a:rPr sz="1100" dirty="0" err="1"/>
              <a:t>ReLU</a:t>
            </a:r>
            <a:r>
              <a:rPr sz="1100" dirty="0"/>
              <a:t>) -&gt; Dense(85, </a:t>
            </a:r>
            <a:r>
              <a:rPr sz="1100" dirty="0" err="1"/>
              <a:t>Softmax</a:t>
            </a:r>
            <a:r>
              <a:rPr sz="1100" dirty="0"/>
              <a:t>).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Evaluated to allow every skill feature to interact directly and non-linearly with all other features.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Regularization via Dropout prevents co-adaptation of prominent skill subsets, yielding optimal generalization (68.27% accuracy).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2. 1D CNN (Comparative Experiment — 16,469 Trainable Parameters):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Input: (373, 1) reshaped vector. Conv1D(32, k=5) -&gt; </a:t>
            </a:r>
            <a:r>
              <a:rPr sz="1100" dirty="0" err="1"/>
              <a:t>BatchNorm</a:t>
            </a:r>
            <a:r>
              <a:rPr sz="1100" dirty="0"/>
              <a:t> -&gt; </a:t>
            </a:r>
            <a:r>
              <a:rPr sz="1100" dirty="0" err="1"/>
              <a:t>MaxPool</a:t>
            </a:r>
            <a:r>
              <a:rPr sz="1100" dirty="0"/>
              <a:t>(2) -&gt; Conv1D(64, k=3) -&gt; </a:t>
            </a:r>
            <a:r>
              <a:rPr sz="1100" dirty="0" err="1"/>
              <a:t>BatchNorm</a:t>
            </a:r>
            <a:r>
              <a:rPr sz="1100" dirty="0"/>
              <a:t> -&gt; </a:t>
            </a:r>
            <a:r>
              <a:rPr sz="1100" dirty="0" err="1"/>
              <a:t>GlobalAvgPool</a:t>
            </a:r>
            <a:r>
              <a:rPr sz="1100" dirty="0"/>
              <a:t> -&gt; Dense(64) -&gt; Dropout(0.30) -&gt; </a:t>
            </a:r>
            <a:r>
              <a:rPr sz="1100" dirty="0" err="1"/>
              <a:t>Softmax</a:t>
            </a:r>
            <a:r>
              <a:rPr sz="1100" dirty="0"/>
              <a:t>(85).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Evaluated to test whether local convolutional filtering could detect multi-skill clusters.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Critical Failure: Skill indices have arbitrary ordering. Sliding filters capture false spatial relationships and </a:t>
            </a:r>
            <a:r>
              <a:rPr sz="1100" dirty="0" err="1"/>
              <a:t>GlobalAveragePooling</a:t>
            </a:r>
            <a:r>
              <a:rPr sz="1100" dirty="0"/>
              <a:t> destroys fine-grained role signals (17.73% accuracy).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3. LSTM (Comparative Experiment — 32,501 Trainable Parameters):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Input: (373, 1) projected via </a:t>
            </a:r>
            <a:r>
              <a:rPr sz="1100" dirty="0" err="1"/>
              <a:t>strided</a:t>
            </a:r>
            <a:r>
              <a:rPr sz="1100" dirty="0"/>
              <a:t> Conv1D (k=7, stride=4) into 46 temporal steps -&gt; LSTM(64) -&gt; Dense(48) -&gt; Dropout(0.20) -&gt; </a:t>
            </a:r>
            <a:r>
              <a:rPr sz="1100" dirty="0" err="1"/>
              <a:t>Softmax</a:t>
            </a:r>
            <a:r>
              <a:rPr sz="1100" dirty="0"/>
              <a:t>(85).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Evaluated to test if recurrent gating could preserve feature associations across long dependency ranges.</a:t>
            </a:r>
          </a:p>
          <a:p>
            <a:pPr marL="0" indent="0">
              <a:spcAft>
                <a:spcPts val="800"/>
              </a:spcAft>
              <a:buNone/>
              <a:defRPr sz="1050">
                <a:solidFill>
                  <a:srgbClr val="0F172A"/>
                </a:solidFill>
                <a:latin typeface="Calibri"/>
              </a:defRPr>
            </a:pPr>
            <a:r>
              <a:rPr sz="1100" dirty="0"/>
              <a:t>   • Outcome: Better than CNN (47.52% accuracy), but artificially forcing temporal sequence onto static skill sets yields 3.6x higher latency (1.206 </a:t>
            </a:r>
            <a:r>
              <a:rPr sz="1100" dirty="0" err="1"/>
              <a:t>ms</a:t>
            </a:r>
            <a:r>
              <a:rPr sz="1100" dirty="0"/>
              <a:t>) and lags ANN.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20C56-2C2C-16BF-164C-9D9A1ED54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838200" y="223611"/>
            <a:ext cx="10515600" cy="1325563"/>
          </a:xfrm>
          <a:ln/>
        </p:spPr>
        <p:txBody>
          <a:bodyPr vert="horz" wrap="square" lIns="91440" tIns="45720" rIns="91440" bIns="45720" anchor="ctr" anchorCtr="0"/>
          <a:lstStyle/>
          <a:p>
            <a:pPr marL="0" indent="0" algn="ctr">
              <a:buNone/>
              <a:defRPr sz="2400"/>
            </a:pPr>
            <a:r>
              <a:rPr sz="4000" b="1" dirty="0"/>
              <a:t>EXPERIMENTAL RESULTS &amp; BENCHMARKS</a:t>
            </a:r>
          </a:p>
        </p:txBody>
      </p:sp>
      <p:pic>
        <p:nvPicPr>
          <p:cNvPr id="17411" name="Picture 17410" descr="model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389120"/>
          </a:xfrm>
          <a:prstGeom prst="rect">
            <a:avLst/>
          </a:prstGeom>
        </p:spPr>
      </p:pic>
      <p:graphicFrame>
        <p:nvGraphicFramePr>
          <p:cNvPr id="17412" name="Table 174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676772"/>
              </p:ext>
            </p:extLst>
          </p:nvPr>
        </p:nvGraphicFramePr>
        <p:xfrm>
          <a:off x="6766560" y="1828800"/>
          <a:ext cx="4389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Accuracy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Top-3 Acc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F1 Score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Parameters</a:t>
                      </a:r>
                    </a:p>
                  </a:txBody>
                  <a:tcPr marL="54864" marR="54864" marT="36576" marB="36576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Deep ANN (MLP)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68.27%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85.73%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68.21%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61,013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1D CNN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17.73%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32.27%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17.08%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16,469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LSTM (Recurrent)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47.52%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70.33%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/>
                        <a:t>47.09%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200" dirty="0"/>
                        <a:t>32,501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0DBB9DB-8F26-3EE0-12D9-9A25FFC3F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sz="3600" b="1" dirty="0"/>
              <a:t>RESULTS - TRAINING DYNAMICS &amp; CONFUSION MATRIX</a:t>
            </a:r>
          </a:p>
        </p:txBody>
      </p:sp>
      <p:pic>
        <p:nvPicPr>
          <p:cNvPr id="3" name="Picture 2" descr="an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846320" cy="4389120"/>
          </a:xfrm>
          <a:prstGeom prst="rect">
            <a:avLst/>
          </a:prstGeom>
        </p:spPr>
      </p:pic>
      <p:pic>
        <p:nvPicPr>
          <p:cNvPr id="4" name="Picture 3" descr="ann_confusion_matrix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63040"/>
            <a:ext cx="5303520" cy="4389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F355D1-0397-640A-B2C0-89C8389BC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06" y="10825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CONCLUSION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Architectural Validation: Rigorously established that multi-layer feed-forward ANNs without sequential/spatial bias are inherently optimal for unordered, tabular skill representations (68.27% accuracy vs. 17.73% for 1D CNN and 47.52% for LSTM).</a:t>
            </a:r>
            <a:endParaRPr lang="en-IN" altLang="en-US" sz="2000" dirty="0"/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High Practical Utility: Achieved an 85.73% Top-3 accuracy across 85 fine-grained career classes, ensuring that the true professional role is within the top 3 recommendations in nearly 9 out of 10 student assessments.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Production-Grade Resilience: Engineered a dual-runtime model serving architecture with automatic scikit-learn MLP fallback, guaranteeing sub-millisecond execution (0.336 </a:t>
            </a:r>
            <a:r>
              <a:rPr sz="2000" dirty="0" err="1"/>
              <a:t>ms</a:t>
            </a:r>
            <a:r>
              <a:rPr sz="2000" dirty="0"/>
              <a:t>/sample) and uninterrupted web service availability.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Holistic Career Guidance Ecosystem: Successfully integrated deep neural inference into an active end-to-end platform featuring skill gap analysis, personalized learning roadmaps, and live external market job ingestion (192 total listings).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94F43-050A-2BB4-41C3-B49C44E0D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21711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ctr"/>
            <a:r>
              <a:rPr b="1" dirty="0"/>
              <a:t>FUTURE ENHANCEMENTS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Completed Deliverables:</a:t>
            </a:r>
            <a:endParaRPr lang="en-IN" altLang="en-US" sz="1600" dirty="0"/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• Implemented and benchmarked 3 deep learning architectures (ANN, 1D CNN, LSTM) with automated evaluation logging.</a:t>
            </a:r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• Engineered full-stack platform (</a:t>
            </a:r>
            <a:r>
              <a:rPr sz="1600" dirty="0" err="1"/>
              <a:t>FastAPI</a:t>
            </a:r>
            <a:r>
              <a:rPr sz="1600" dirty="0"/>
              <a:t> + React 19) with skill analyzer, interactive career match scoring, and learning roadmaps.</a:t>
            </a:r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• Validated dual-engine serving fallback and live job ingestion from external providers (Arbeitnow, </a:t>
            </a:r>
            <a:r>
              <a:rPr sz="1600" dirty="0" err="1"/>
              <a:t>Remotive</a:t>
            </a:r>
            <a:r>
              <a:rPr sz="1600" dirty="0"/>
              <a:t>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Proposed Future Work (Review-3 &amp; Production Roadmap):</a:t>
            </a:r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1. Multimodal Text &amp; Skill Fusion: Implement hybrid architectures fusing dense tabular skill vectors with Sentence-BERT (SBERT) embeddings of candidate free-text project descriptions and GitHub READMEs.</a:t>
            </a:r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2. Graph Neural Networks for Career Mobility: Construct heterogeneous career transition graphs to model multi-hop promotional steps and multi-year upskilling roadmaps.</a:t>
            </a:r>
          </a:p>
          <a:p>
            <a:pPr marL="0" indent="0">
              <a:spcAft>
                <a:spcPts val="800"/>
              </a:spcAft>
              <a:buNone/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  3. Real-World Reinforcement Fine-Tuning: Collect anonymized user employment outcomes and hiring feedback to continuously optimize role-skill importance weights via RLHF/RLAIF.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322AA-9B36-028C-0B95-9FB028F16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marL="0" indent="0">
              <a:buNone/>
              <a:defRPr sz="2400"/>
            </a:pPr>
            <a:r>
              <a:rPr sz="3200" b="1" dirty="0"/>
              <a:t>REFERENCES (Part 1 - Papers [1] to [8])</a:t>
            </a:r>
          </a:p>
        </p:txBody>
      </p:sp>
      <p:sp>
        <p:nvSpPr>
          <p:cNvPr id="2048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[1] C. Qin, H. Zhu, T. Xu, C. Zhu, L. Jiang, E. Chen, and H. Xiong, "Enhancing Person-Job Fit for Talent Recruitment: An Ability-Aware Neural Network Approach," in Proc. 41st Int. ACM SIGIR Conf. Res. Devel. Inf. Retrieval (SIGIR '18), 2018, pp. 25-34. https://doi.org/10.1145/3209978.3210025</a:t>
            </a: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[2] J.-J. Decorte, J. Van </a:t>
            </a:r>
            <a:r>
              <a:rPr sz="1200" dirty="0" err="1"/>
              <a:t>Hautte</a:t>
            </a:r>
            <a:r>
              <a:rPr sz="1200" dirty="0"/>
              <a:t>, T. Demeester, and C. Develder, "</a:t>
            </a:r>
            <a:r>
              <a:rPr sz="1200" dirty="0" err="1"/>
              <a:t>JobBERT</a:t>
            </a:r>
            <a:r>
              <a:rPr sz="1200" dirty="0"/>
              <a:t>: Understanding Job Titles Through Skills," in Proc. FEAST Workshop, ECML-PKDD, 2021, arXiv:2109.09605. https://arxiv.org/abs/2109.09605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[3] C. Zhu, H. Zhu, H. Xiong, P. Peng, and F. Xie, "Person-Job Fit: Adapting the Right Talent for the Right Job with Joint Representation Learning," ACM Trans. Manage. Inf. Syst., vol. 9, no. 3, pp. 1-17, 2018. https://doi.org/10.1145/3234465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[4] S. Bian, W. X. Zhao, Y. Song, T. Zhang, and J.-R. Wen, "Domain Adaptation for Person-Job Fit with Transferable Deep Global Match Network," in Proc. Conf. Empirical Methods Natural Lang. Process. (EMNLP-IJCNLP), 2019, pp. 4810-4820. https://doi.org/10.18653/v1/D19-1487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[5] C. Yang, Y. Hou, Y. Song, T. Zhang, J.-R. Wen, and W. X. Zhao, "Modeling Two-Way Selection Preference for Person-Job Fit," in Proc. 16th ACM Conf. Recommender Syst. (</a:t>
            </a:r>
            <a:r>
              <a:rPr sz="1200" dirty="0" err="1"/>
              <a:t>RecSys</a:t>
            </a:r>
            <a:r>
              <a:rPr sz="1200" dirty="0"/>
              <a:t> '22), 2022, pp. 102-112. https://doi.org/10.1145/3523227.3546757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[6] A. Gugnani and H. Misra, "Implicit Skills Extraction Using Document Embedding and Its Use in Job Recommendation," in Proc. 34th AAAI Conf. </a:t>
            </a:r>
            <a:r>
              <a:rPr sz="1200" dirty="0" err="1"/>
              <a:t>Artif</a:t>
            </a:r>
            <a:r>
              <a:rPr sz="1200" dirty="0"/>
              <a:t>. Intell. (AAAI '20), vol. 34, no. 08, 2020, pp. 13286-13293. https://doi.org/10.1609/aaai.v34i08.7039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[7] C. Zhu, H. Zhu, C. Xi, P. Jiao, G. Liu, and H. Xiong, "Your Career Path Matters in Person-Job Fit," in Proc. 36th AAAI Conf. </a:t>
            </a:r>
            <a:r>
              <a:rPr sz="1200" dirty="0" err="1"/>
              <a:t>Artif</a:t>
            </a:r>
            <a:r>
              <a:rPr sz="1200" dirty="0"/>
              <a:t>. Intell. (AAAI '22), vol. 36, no. 11, 2022, pp. 12431-12439. https://doi.org/10.1609/aaai.v36i11.26464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[8] J.-J. Decorte, J. Van </a:t>
            </a:r>
            <a:r>
              <a:rPr sz="1200" dirty="0" err="1"/>
              <a:t>Hautte</a:t>
            </a:r>
            <a:r>
              <a:rPr sz="1200" dirty="0"/>
              <a:t>, T. Demeester, and C. Develder, "</a:t>
            </a:r>
            <a:r>
              <a:rPr sz="1200" dirty="0" err="1"/>
              <a:t>CareerBERT</a:t>
            </a:r>
            <a:r>
              <a:rPr sz="1200" dirty="0"/>
              <a:t>: Understanding Career Trajectories Using Resume Embeddings and Sequence Models," IEEE Trans. </a:t>
            </a:r>
            <a:r>
              <a:rPr sz="1200" dirty="0" err="1"/>
              <a:t>Knowl</a:t>
            </a:r>
            <a:r>
              <a:rPr sz="1200" dirty="0"/>
              <a:t>. Data Eng., 2023, arXiv:2305.18873. https://doi.org/10.1109/TKDE.2023.3325102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380039-8603-D704-886E-C22F7C7FC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50" y="130025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sz="3200" b="1" dirty="0"/>
              <a:t>REFERENCES (Part 2 - Papers [9] to [16])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[9] C. Qin, L. Zhang, H. Zhu, T. Xu, D. Shen, E. Chen, and H. Xiong, "A Comprehensive Survey of Artificial Intelligence Techniques for Talent Analytics," Proc. IEEE, vol. 113, no. 2, pp. 125-171, Feb. 2025. https://doi.org/10.1109/JPROC.2024.3491201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[10] A. Moradi, M. Ebrahimi, and H. R. </a:t>
            </a:r>
            <a:r>
              <a:rPr sz="1200" dirty="0" err="1"/>
              <a:t>Rabiee</a:t>
            </a:r>
            <a:r>
              <a:rPr sz="1200" dirty="0"/>
              <a:t>, "A Job Recommendation System Based on Skill Importance and Deep Learning Label Prediction," in Proc. 10th Int. Conf. Signal Process. Intell. Syst. (ICSPIS), IEEE, 2024, pp. 1-6. https://doi.org/10.1109/ICSPIS64593.2024.10860321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[11] S. Sharma, P. Gupta, and R. K. Singhal, "Intelligent Resume Analysis with Real-Time Multi-Platform Job Matching and Automated Skill-Gap Analysis," in Proc. Int. Conf. Intell. </a:t>
            </a:r>
            <a:r>
              <a:rPr sz="1200" dirty="0" err="1"/>
              <a:t>Comput</a:t>
            </a:r>
            <a:r>
              <a:rPr sz="1200" dirty="0"/>
              <a:t>. Control Syst. (ICICCS), IEEE, 2024, pp. 882-888. https://doi.org/10.1109/ICICCS60432.2024.10682914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[12] S. Roy, D. Narang, and P. Mahajan, "Resume Analysis and Job Recommendation Using Machine Learning and NLP," in Proc. 8th Int. Conf. Convergence Technol. (I2CT), IEEE, 2023, pp. 1-6. https://doi.org/10.1109/I2CT57861.2023.10126488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[13] S. Bian, X. Chen, W. X. Zhao, K. Zhou, Y. Hou, Y. Song, T. Zhang, and J.-R. Wen, "Learning to Match Jobs with Resumes from Sparse Interaction Data using Multi-View Co-Teaching Network," in Proc. 29th ACM Int. Conf. Inf. </a:t>
            </a:r>
            <a:r>
              <a:rPr sz="1200" dirty="0" err="1"/>
              <a:t>Knowl</a:t>
            </a:r>
            <a:r>
              <a:rPr sz="1200" dirty="0"/>
              <a:t>. Manage. (CIKM '20), 2020, pp. 65-74. https://doi.org/10.1145/3340531.3411980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[14] M. Zhang, J. Jensen, S. Sonniks, and B. Plank, "</a:t>
            </a:r>
            <a:r>
              <a:rPr sz="1200" dirty="0" err="1"/>
              <a:t>SkillSpan</a:t>
            </a:r>
            <a:r>
              <a:rPr sz="1200" dirty="0"/>
              <a:t>: Hard and Soft Skill Extraction from English Job Postings," in Proc. Conf. North Amer. Chapter Assoc. </a:t>
            </a:r>
            <a:r>
              <a:rPr sz="1200" dirty="0" err="1"/>
              <a:t>Comput</a:t>
            </a:r>
            <a:r>
              <a:rPr sz="1200" dirty="0"/>
              <a:t>. Linguistics (NAACL '22), 2022, pp. 4962-4977. https://doi.org/10.18653/v1/2022.naacl-main.366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[15] E. Senger, K. F. Lu, and R. Klinger, "Deep Learning-based Computational Job Market Analysis: A Survey on Skill Extraction and Classification from Job Postings," in Proc. 1st Workshop NLP for Human Resources (NLP4HR), EACL/ACL, 2024, pp. 1-16. https://doi.org/10.18653/v1/2024.nlp4hr-1.1</a:t>
            </a:r>
          </a:p>
          <a:p>
            <a:pPr marL="0" indent="0">
              <a:spcAft>
                <a:spcPts val="800"/>
              </a:spcAft>
              <a:buNone/>
              <a:defRPr sz="950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[16] K. Nguyen, M. Zhang, S. </a:t>
            </a:r>
            <a:r>
              <a:rPr sz="1200" dirty="0" err="1"/>
              <a:t>Montariol</a:t>
            </a:r>
            <a:r>
              <a:rPr sz="1200" dirty="0"/>
              <a:t>, and A. </a:t>
            </a:r>
            <a:r>
              <a:rPr sz="1200" dirty="0" err="1"/>
              <a:t>Bosselut</a:t>
            </a:r>
            <a:r>
              <a:rPr sz="1200" dirty="0"/>
              <a:t>, "Rethinking Skill Extraction in the Job Market Domain using Large Language Models," in Proc. 1st Workshop NLP for Human Resources (NLP4HR), EACL/ACL, 2024, pp. 27-42. https://doi.org/10.18653/v1/2024.nlp4hr-1.3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80F46-748F-7514-8B8C-813F6E4AE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52" y="162683"/>
            <a:ext cx="693737" cy="6937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4675</Words>
  <Application>Microsoft Office PowerPoint</Application>
  <PresentationFormat>Widescreen</PresentationFormat>
  <Paragraphs>266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Outline</vt:lpstr>
      <vt:lpstr>ABSTRACT</vt:lpstr>
      <vt:lpstr>INTRODUCTION</vt:lpstr>
      <vt:lpstr>PROBLEM STATEMENT</vt:lpstr>
      <vt:lpstr>OBJECTIVES</vt:lpstr>
      <vt:lpstr>LITERATURE REVIEW - OVERVIEW &amp; TAXONOMY</vt:lpstr>
      <vt:lpstr>PowerPoint Presentation</vt:lpstr>
      <vt:lpstr>PowerPoint Presentation</vt:lpstr>
      <vt:lpstr>PowerPoint Presentation</vt:lpstr>
      <vt:lpstr>PowerPoint Presentation</vt:lpstr>
      <vt:lpstr>Software and Hardware Requirements</vt:lpstr>
      <vt:lpstr>PROPOSED SOLUTION</vt:lpstr>
      <vt:lpstr>DATASET DETAILS &amp; FEATURE ENGINEERING</vt:lpstr>
      <vt:lpstr>METHODOLOGY &amp; ARCHITECTURE</vt:lpstr>
      <vt:lpstr>MODEL EXPLANATION &amp; ARCHITECTURAL COMPARISON</vt:lpstr>
      <vt:lpstr>EXPERIMENTAL RESULTS &amp; BENCHMARKS</vt:lpstr>
      <vt:lpstr>RESULTS - TRAINING DYNAMICS &amp; CONFUSION MATRIX</vt:lpstr>
      <vt:lpstr>CONCLUSION</vt:lpstr>
      <vt:lpstr>FUTURE ENHANCEMENTS</vt:lpstr>
      <vt:lpstr>REFERENCES (Part 1 - Papers [1] to [8])</vt:lpstr>
      <vt:lpstr>REFERENCES (Part 2 - Papers [9] to [16])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Jeffy Johanan Meka</cp:lastModifiedBy>
  <cp:revision>10</cp:revision>
  <dcterms:created xsi:type="dcterms:W3CDTF">2026-10-22T07:33:07Z</dcterms:created>
  <dcterms:modified xsi:type="dcterms:W3CDTF">2026-10-29T19:29:49Z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454C516A2AD419DF33BCD96AF61AD28C_43</vt:lpwstr>
  </property>
  <property fmtid="{D5CDD505-2E9C-101B-9397-08002B2CF9AE}" pid="3" name="KSOProductBuildVer">
    <vt:lpwstr>1033-12.1.28496.28496</vt:lpwstr>
  </property>
</Properties>
</file>